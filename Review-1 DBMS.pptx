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0C70-83BE-B9CC-5A65-E88C51418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47891" y="372884"/>
            <a:ext cx="12115799" cy="2509213"/>
          </a:xfrm>
        </p:spPr>
        <p:txBody>
          <a:bodyPr>
            <a:normAutofit/>
          </a:bodyPr>
          <a:lstStyle/>
          <a:p>
            <a:br>
              <a:rPr lang="en-IN" sz="4000" dirty="0">
                <a:latin typeface="Century Schoolbook" panose="02040604050505020304" pitchFamily="18" charset="0"/>
              </a:rPr>
            </a:br>
            <a:r>
              <a:rPr lang="en-IN" sz="4000" dirty="0">
                <a:latin typeface="Century Schoolbook" panose="02040604050505020304" pitchFamily="18" charset="0"/>
              </a:rPr>
              <a:t> Online Voting System with              Aadhaar-Style OTP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94C4B-9BFE-DD8B-6CDD-E9E8B4E41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667" y="3020993"/>
            <a:ext cx="10726664" cy="3548809"/>
          </a:xfrm>
        </p:spPr>
        <p:txBody>
          <a:bodyPr>
            <a:normAutofit fontScale="40000" lnSpcReduction="20000"/>
          </a:bodyPr>
          <a:lstStyle/>
          <a:p>
            <a:r>
              <a:rPr lang="en-IN" sz="6000" b="1" dirty="0"/>
              <a:t>[REVIEW-]</a:t>
            </a:r>
          </a:p>
          <a:p>
            <a:r>
              <a:rPr lang="en-IN" sz="4900" b="1" dirty="0"/>
              <a:t>DATABASE SYSTEMS ENGINEERING AND DISTRIBUTED BACKEND DEVELOPMENT</a:t>
            </a:r>
          </a:p>
          <a:p>
            <a:r>
              <a:rPr lang="en-IN" sz="4900" b="1" dirty="0"/>
              <a:t>Course Code:</a:t>
            </a:r>
            <a:r>
              <a:rPr lang="en-IN" sz="4900" dirty="0"/>
              <a:t> 25CS1302E</a:t>
            </a:r>
            <a:br>
              <a:rPr lang="en-IN" sz="4900" dirty="0"/>
            </a:br>
            <a:r>
              <a:rPr lang="en-IN" sz="4900" b="1" dirty="0"/>
              <a:t>Section:</a:t>
            </a:r>
            <a:r>
              <a:rPr lang="en-IN" sz="4900" dirty="0"/>
              <a:t> 12</a:t>
            </a:r>
            <a:br>
              <a:rPr lang="en-IN" sz="4900" dirty="0"/>
            </a:br>
            <a:r>
              <a:rPr lang="en-IN" sz="4900" b="1" dirty="0"/>
              <a:t>Team No.:</a:t>
            </a:r>
            <a:r>
              <a:rPr lang="en-IN" sz="4900" dirty="0"/>
              <a:t> 9</a:t>
            </a:r>
          </a:p>
          <a:p>
            <a:pPr algn="l"/>
            <a:r>
              <a:rPr lang="en-IN" sz="4900" b="1" dirty="0"/>
              <a:t>Team Members</a:t>
            </a:r>
          </a:p>
          <a:p>
            <a:pPr lvl="0" algn="l"/>
            <a:r>
              <a:rPr lang="en-IN" sz="4000" b="1" dirty="0">
                <a:solidFill>
                  <a:schemeClr val="tx1"/>
                </a:solidFill>
              </a:rPr>
              <a:t>2520090132 - Keerthana G. </a:t>
            </a:r>
          </a:p>
          <a:p>
            <a:pPr lvl="0" algn="l"/>
            <a:r>
              <a:rPr lang="en-IN" sz="4000" b="1" dirty="0">
                <a:solidFill>
                  <a:schemeClr val="tx1"/>
                </a:solidFill>
              </a:rPr>
              <a:t>2520090121 - Thota Jhana Sri </a:t>
            </a:r>
          </a:p>
          <a:p>
            <a:pPr lvl="0" algn="l"/>
            <a:r>
              <a:rPr lang="en-IN" sz="4000" b="1" dirty="0">
                <a:solidFill>
                  <a:schemeClr val="tx1"/>
                </a:solidFill>
              </a:rPr>
              <a:t>2520090126 - </a:t>
            </a:r>
            <a:r>
              <a:rPr lang="en-IN" sz="4000" b="1" dirty="0" err="1">
                <a:solidFill>
                  <a:schemeClr val="tx1"/>
                </a:solidFill>
              </a:rPr>
              <a:t>Sutte</a:t>
            </a:r>
            <a:r>
              <a:rPr lang="en-IN" sz="4000" b="1" dirty="0">
                <a:solidFill>
                  <a:schemeClr val="tx1"/>
                </a:solidFill>
              </a:rPr>
              <a:t> Alekhya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C8534-0FDA-7C12-4F94-D817E61BE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789" y="-4541"/>
            <a:ext cx="1789192" cy="177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86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Introduction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quarter" idx="13"/>
          </p:nvPr>
        </p:nvSpPr>
        <p:spPr>
          <a:xfrm>
            <a:off x="600000" y="1500000"/>
            <a:ext cx="10992000" cy="4700000"/>
          </a:xfrm>
        </p:spPr>
        <p:txBody>
          <a:bodyPr>
            <a:normAutofit/>
          </a:bodyPr>
          <a:lstStyle/>
          <a:p>
            <a:pPr lvl="0"/>
            <a:r>
              <a:rPr lang="en-IN" sz="2800" dirty="0"/>
              <a:t>The project is a web-based online voting application.</a:t>
            </a:r>
          </a:p>
          <a:p>
            <a:pPr lvl="0"/>
            <a:r>
              <a:rPr lang="en-IN" sz="2800" dirty="0"/>
              <a:t>It aims to modernize the traditional voting process through a digital platform.</a:t>
            </a:r>
          </a:p>
          <a:p>
            <a:pPr lvl="0"/>
            <a:r>
              <a:rPr lang="en-IN" sz="2800" dirty="0"/>
              <a:t>Voters can authenticate themselves and participate in elections online.</a:t>
            </a:r>
          </a:p>
          <a:p>
            <a:pPr lvl="0"/>
            <a:r>
              <a:rPr lang="en-IN" sz="2800" dirty="0"/>
              <a:t>OTP verification provides an additional authentication layer.</a:t>
            </a:r>
          </a:p>
          <a:p>
            <a:pPr lvl="0"/>
            <a:r>
              <a:rPr lang="en-IN" sz="2800" dirty="0"/>
              <a:t>The system will manage voters, elections, candidates and voting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Key Idea</a:t>
            </a:r>
          </a:p>
        </p:txBody>
      </p:sp>
      <p:sp>
        <p:nvSpPr>
          <p:cNvPr id="3" name="Idea 3"/>
          <p:cNvSpPr/>
          <p:nvPr/>
        </p:nvSpPr>
        <p:spPr>
          <a:xfrm>
            <a:off x="600000" y="1500000"/>
            <a:ext cx="3100000" cy="31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SECURE AUTHENTICATION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600" cap="all" dirty="0">
                <a:solidFill>
                  <a:schemeClr val="tx1"/>
                </a:solidFill>
                <a:latin typeface="+mn-lt"/>
              </a:rPr>
              <a:t>Verifies voter identity using OTP verification and protected credentials, so only genuine voters gain access.</a:t>
            </a:r>
          </a:p>
        </p:txBody>
      </p:sp>
      <p:sp>
        <p:nvSpPr>
          <p:cNvPr id="4" name="Plus 4"/>
          <p:cNvSpPr/>
          <p:nvPr/>
        </p:nvSpPr>
        <p:spPr>
          <a:xfrm>
            <a:off x="3700000" y="2775000"/>
            <a:ext cx="696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+</a:t>
            </a:r>
          </a:p>
        </p:txBody>
      </p:sp>
      <p:sp>
        <p:nvSpPr>
          <p:cNvPr id="5" name="Idea 5"/>
          <p:cNvSpPr/>
          <p:nvPr/>
        </p:nvSpPr>
        <p:spPr>
          <a:xfrm>
            <a:off x="4396000" y="1500000"/>
            <a:ext cx="3100000" cy="31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DATABASE MANAGEMENT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600" cap="all" dirty="0">
                <a:solidFill>
                  <a:schemeClr val="tx1"/>
                </a:solidFill>
                <a:latin typeface="+mn-lt"/>
              </a:rPr>
              <a:t>Stores voters, elections, candidates and votes in a structured MySQL database that keeps records accurate and consistent.</a:t>
            </a:r>
          </a:p>
        </p:txBody>
      </p:sp>
      <p:sp>
        <p:nvSpPr>
          <p:cNvPr id="6" name="Plus 6"/>
          <p:cNvSpPr/>
          <p:nvPr/>
        </p:nvSpPr>
        <p:spPr>
          <a:xfrm>
            <a:off x="7496000" y="2775000"/>
            <a:ext cx="696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+</a:t>
            </a:r>
          </a:p>
        </p:txBody>
      </p:sp>
      <p:sp>
        <p:nvSpPr>
          <p:cNvPr id="7" name="Idea 7"/>
          <p:cNvSpPr/>
          <p:nvPr/>
        </p:nvSpPr>
        <p:spPr>
          <a:xfrm>
            <a:off x="8192000" y="1500000"/>
            <a:ext cx="3100000" cy="31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ONLINE VOTING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600" cap="all" dirty="0">
                <a:solidFill>
                  <a:schemeClr val="tx1"/>
                </a:solidFill>
                <a:latin typeface="+mn-lt"/>
              </a:rPr>
              <a:t>Lets verified voters cast votes through a simple web interface, with one vote per election.</a:t>
            </a:r>
          </a:p>
        </p:txBody>
      </p:sp>
      <p:sp>
        <p:nvSpPr>
          <p:cNvPr id="8" name="Tagline 8"/>
          <p:cNvSpPr/>
          <p:nvPr/>
        </p:nvSpPr>
        <p:spPr>
          <a:xfrm>
            <a:off x="600000" y="4950000"/>
            <a:ext cx="10692000" cy="900000"/>
          </a:xfrm>
          <a:prstGeom prst="rect">
            <a:avLst/>
          </a:prstGeom>
          <a:solidFill>
            <a:srgbClr val="D9D9D9">
              <a:alpha val="80000"/>
            </a:srgbClr>
          </a:solidFill>
          <a:ln w="12700">
            <a:solidFill>
              <a:srgbClr val="7F7F7F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400" b="1" cap="all" dirty="0">
                <a:solidFill>
                  <a:schemeClr val="tx1"/>
                </a:solidFill>
                <a:latin typeface="+mn-lt"/>
              </a:rPr>
              <a:t>Secure Authentication + Database Management + Online Voting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Problem Statement</a:t>
            </a:r>
          </a:p>
        </p:txBody>
      </p:sp>
      <p:sp>
        <p:nvSpPr>
          <p:cNvPr id="3" name="Problem 3"/>
          <p:cNvSpPr/>
          <p:nvPr/>
        </p:nvSpPr>
        <p:spPr>
          <a:xfrm>
            <a:off x="600000" y="1500000"/>
            <a:ext cx="5350000" cy="39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80000" tIns="90000" rIns="180000" bIns="9000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400" b="1" cap="all" dirty="0">
                <a:solidFill>
                  <a:schemeClr val="tx1"/>
                </a:solidFill>
                <a:latin typeface="+mn-lt"/>
              </a:rPr>
              <a:t>Traditional / Manual Voting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Physical presence required at polling locations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Manual voter verification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Manual record maintenance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Time-consuming vote counting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Complex election management</a:t>
            </a:r>
          </a:p>
        </p:txBody>
      </p:sp>
      <p:sp>
        <p:nvSpPr>
          <p:cNvPr id="4" name="Challenge 4"/>
          <p:cNvSpPr/>
          <p:nvPr/>
        </p:nvSpPr>
        <p:spPr>
          <a:xfrm>
            <a:off x="6242000" y="1500000"/>
            <a:ext cx="5350000" cy="39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80000" tIns="90000" rIns="180000" bIns="9000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400" b="1" cap="all" dirty="0">
                <a:solidFill>
                  <a:schemeClr val="tx1"/>
                </a:solidFill>
                <a:latin typeface="+mn-lt"/>
              </a:rPr>
              <a:t>Online Voting Challenges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Verifying authorized voters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Preventing duplicate votes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Maintaining vote integrity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Managing data securely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Objectives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quarter" idx="13"/>
          </p:nvPr>
        </p:nvSpPr>
        <p:spPr>
          <a:xfrm>
            <a:off x="600000" y="1500000"/>
            <a:ext cx="10992000" cy="4700000"/>
          </a:xfrm>
        </p:spPr>
        <p:txBody>
          <a:bodyPr>
            <a:normAutofit/>
          </a:bodyPr>
          <a:lstStyle/>
          <a:p>
            <a:pPr lvl="0"/>
            <a:r>
              <a:rPr lang="en-IN" sz="2800" dirty="0"/>
              <a:t>Authenticate voters using OTP verification.</a:t>
            </a:r>
          </a:p>
          <a:p>
            <a:pPr lvl="0"/>
            <a:r>
              <a:rPr lang="en-IN" sz="2800" dirty="0"/>
              <a:t>Provide a simple online voting interface.</a:t>
            </a:r>
          </a:p>
          <a:p>
            <a:pPr lvl="0"/>
            <a:r>
              <a:rPr lang="en-IN" sz="2800" dirty="0"/>
              <a:t>Allow only verified voters to cast votes.</a:t>
            </a:r>
          </a:p>
          <a:p>
            <a:pPr lvl="0"/>
            <a:r>
              <a:rPr lang="en-IN" sz="2800" dirty="0"/>
              <a:t>Prevent multiple voting in the same election.</a:t>
            </a:r>
          </a:p>
          <a:p>
            <a:pPr lvl="0"/>
            <a:r>
              <a:rPr lang="en-IN" sz="2800" dirty="0"/>
              <a:t>Maintain accurate voter and voting records.</a:t>
            </a:r>
          </a:p>
          <a:p>
            <a:pPr lvl="0"/>
            <a:r>
              <a:rPr lang="en-IN" sz="2800" dirty="0"/>
              <a:t>Simplify election and result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Existing System</a:t>
            </a:r>
          </a:p>
        </p:txBody>
      </p:sp>
      <p:sp>
        <p:nvSpPr>
          <p:cNvPr id="3" name="Existing 3"/>
          <p:cNvSpPr/>
          <p:nvPr/>
        </p:nvSpPr>
        <p:spPr>
          <a:xfrm>
            <a:off x="600000" y="1500000"/>
            <a:ext cx="5350000" cy="39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80000" tIns="90000" rIns="180000" bIns="9000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400" b="1" cap="all" dirty="0">
                <a:solidFill>
                  <a:schemeClr val="tx1"/>
                </a:solidFill>
                <a:latin typeface="+mn-lt"/>
              </a:rPr>
              <a:t>Conventional / Manual Approach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Physical polling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Manual voter verification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Paper / manual records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Manual vote counting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Greater administrative effort</a:t>
            </a:r>
          </a:p>
        </p:txBody>
      </p:sp>
      <p:sp>
        <p:nvSpPr>
          <p:cNvPr id="4" name="Limits 4"/>
          <p:cNvSpPr/>
          <p:nvPr/>
        </p:nvSpPr>
        <p:spPr>
          <a:xfrm>
            <a:off x="6242000" y="1500000"/>
            <a:ext cx="5350000" cy="39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80000" tIns="90000" rIns="180000" bIns="90000" anchor="t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400" b="1" cap="all" dirty="0">
                <a:solidFill>
                  <a:schemeClr val="tx1"/>
                </a:solidFill>
                <a:latin typeface="+mn-lt"/>
              </a:rPr>
              <a:t>Limitations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Voters must be physically present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Verification is slow and manual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Records can be lost or entered incorrectly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Counting results takes considerable time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100" cap="all" dirty="0">
                <a:solidFill>
                  <a:schemeClr val="tx1"/>
                </a:solidFill>
                <a:latin typeface="+mn-lt"/>
              </a:rPr>
              <a:t>Election administration needs significant effort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Proposed System</a:t>
            </a:r>
          </a:p>
        </p:txBody>
      </p:sp>
      <p:sp>
        <p:nvSpPr>
          <p:cNvPr id="3" name="Intro 3"/>
          <p:cNvSpPr/>
          <p:nvPr/>
        </p:nvSpPr>
        <p:spPr>
          <a:xfrm>
            <a:off x="600000" y="1450000"/>
            <a:ext cx="109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The proposed Online Voting System is planned to provide:</a:t>
            </a:r>
          </a:p>
        </p:txBody>
      </p:sp>
      <p:sp>
        <p:nvSpPr>
          <p:cNvPr id="4" name="Feature 4"/>
          <p:cNvSpPr/>
          <p:nvPr/>
        </p:nvSpPr>
        <p:spPr>
          <a:xfrm>
            <a:off x="600000" y="2050000"/>
            <a:ext cx="5350000" cy="10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Web-based voting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500" cap="all" dirty="0">
                <a:solidFill>
                  <a:schemeClr val="tx1"/>
                </a:solidFill>
                <a:latin typeface="+mn-lt"/>
              </a:rPr>
              <a:t>Voters take part in elections through a browser.</a:t>
            </a:r>
          </a:p>
        </p:txBody>
      </p:sp>
      <p:sp>
        <p:nvSpPr>
          <p:cNvPr id="5" name="Feature 5"/>
          <p:cNvSpPr/>
          <p:nvPr/>
        </p:nvSpPr>
        <p:spPr>
          <a:xfrm>
            <a:off x="6242000" y="2050000"/>
            <a:ext cx="5350000" cy="10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OTP-based authentication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500" cap="all" dirty="0">
                <a:solidFill>
                  <a:schemeClr val="tx1"/>
                </a:solidFill>
                <a:latin typeface="+mn-lt"/>
              </a:rPr>
              <a:t>An extra layer of voter verification.</a:t>
            </a:r>
          </a:p>
        </p:txBody>
      </p:sp>
      <p:sp>
        <p:nvSpPr>
          <p:cNvPr id="6" name="Feature 6"/>
          <p:cNvSpPr/>
          <p:nvPr/>
        </p:nvSpPr>
        <p:spPr>
          <a:xfrm>
            <a:off x="600000" y="3150000"/>
            <a:ext cx="5350000" cy="10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Verified voter access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500" cap="all" dirty="0">
                <a:solidFill>
                  <a:schemeClr val="tx1"/>
                </a:solidFill>
                <a:latin typeface="+mn-lt"/>
              </a:rPr>
              <a:t>Only authenticated voters reach the voting page.</a:t>
            </a:r>
          </a:p>
        </p:txBody>
      </p:sp>
      <p:sp>
        <p:nvSpPr>
          <p:cNvPr id="7" name="Feature 7"/>
          <p:cNvSpPr/>
          <p:nvPr/>
        </p:nvSpPr>
        <p:spPr>
          <a:xfrm>
            <a:off x="6242000" y="3150000"/>
            <a:ext cx="5350000" cy="10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Election and candidate management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500" cap="all" dirty="0">
                <a:solidFill>
                  <a:schemeClr val="tx1"/>
                </a:solidFill>
                <a:latin typeface="+mn-lt"/>
              </a:rPr>
              <a:t>Admins create elections and add candidates.</a:t>
            </a:r>
          </a:p>
        </p:txBody>
      </p:sp>
      <p:sp>
        <p:nvSpPr>
          <p:cNvPr id="8" name="Feature 8"/>
          <p:cNvSpPr/>
          <p:nvPr/>
        </p:nvSpPr>
        <p:spPr>
          <a:xfrm>
            <a:off x="600000" y="4250000"/>
            <a:ext cx="5350000" cy="10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Controlled voting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500" cap="all" dirty="0">
                <a:solidFill>
                  <a:schemeClr val="tx1"/>
                </a:solidFill>
                <a:latin typeface="+mn-lt"/>
              </a:rPr>
              <a:t>Votes only within the active election.</a:t>
            </a:r>
          </a:p>
        </p:txBody>
      </p:sp>
      <p:sp>
        <p:nvSpPr>
          <p:cNvPr id="9" name="Feature 9"/>
          <p:cNvSpPr/>
          <p:nvPr/>
        </p:nvSpPr>
        <p:spPr>
          <a:xfrm>
            <a:off x="6242000" y="4250000"/>
            <a:ext cx="5350000" cy="10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Duplicate-vote prevention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500" cap="all" dirty="0">
                <a:solidFill>
                  <a:schemeClr val="tx1"/>
                </a:solidFill>
                <a:latin typeface="+mn-lt"/>
              </a:rPr>
              <a:t>Each voter can vote once per election.</a:t>
            </a:r>
          </a:p>
        </p:txBody>
      </p:sp>
      <p:sp>
        <p:nvSpPr>
          <p:cNvPr id="10" name="Feature 10"/>
          <p:cNvSpPr/>
          <p:nvPr/>
        </p:nvSpPr>
        <p:spPr>
          <a:xfrm>
            <a:off x="3421000" y="5350000"/>
            <a:ext cx="5350000" cy="10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Automated result management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500" cap="all" dirty="0">
                <a:solidFill>
                  <a:schemeClr val="tx1"/>
                </a:solidFill>
                <a:latin typeface="+mn-lt"/>
              </a:rPr>
              <a:t>Votes are tallied by the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Scope</a:t>
            </a:r>
          </a:p>
        </p:txBody>
      </p:sp>
      <p:sp>
        <p:nvSpPr>
          <p:cNvPr id="3" name="Scope 3"/>
          <p:cNvSpPr/>
          <p:nvPr/>
        </p:nvSpPr>
        <p:spPr>
          <a:xfrm>
            <a:off x="600000" y="155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01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Voter Registration</a:t>
            </a:r>
          </a:p>
        </p:txBody>
      </p:sp>
      <p:sp>
        <p:nvSpPr>
          <p:cNvPr id="4" name="Scope 4"/>
          <p:cNvSpPr/>
          <p:nvPr/>
        </p:nvSpPr>
        <p:spPr>
          <a:xfrm>
            <a:off x="4346000" y="155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02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OTP Verification</a:t>
            </a:r>
          </a:p>
        </p:txBody>
      </p:sp>
      <p:sp>
        <p:nvSpPr>
          <p:cNvPr id="5" name="Scope 5"/>
          <p:cNvSpPr/>
          <p:nvPr/>
        </p:nvSpPr>
        <p:spPr>
          <a:xfrm>
            <a:off x="8092000" y="155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03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Voter Login</a:t>
            </a:r>
          </a:p>
        </p:txBody>
      </p:sp>
      <p:sp>
        <p:nvSpPr>
          <p:cNvPr id="6" name="Scope 6"/>
          <p:cNvSpPr/>
          <p:nvPr/>
        </p:nvSpPr>
        <p:spPr>
          <a:xfrm>
            <a:off x="600000" y="310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04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Election Management</a:t>
            </a:r>
          </a:p>
        </p:txBody>
      </p:sp>
      <p:sp>
        <p:nvSpPr>
          <p:cNvPr id="7" name="Scope 7"/>
          <p:cNvSpPr/>
          <p:nvPr/>
        </p:nvSpPr>
        <p:spPr>
          <a:xfrm>
            <a:off x="4346000" y="310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05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Candidate Management</a:t>
            </a:r>
          </a:p>
        </p:txBody>
      </p:sp>
      <p:sp>
        <p:nvSpPr>
          <p:cNvPr id="8" name="Scope 8"/>
          <p:cNvSpPr/>
          <p:nvPr/>
        </p:nvSpPr>
        <p:spPr>
          <a:xfrm>
            <a:off x="8092000" y="310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06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Vote Casting</a:t>
            </a:r>
          </a:p>
        </p:txBody>
      </p:sp>
      <p:sp>
        <p:nvSpPr>
          <p:cNvPr id="9" name="Scope 9"/>
          <p:cNvSpPr/>
          <p:nvPr/>
        </p:nvSpPr>
        <p:spPr>
          <a:xfrm>
            <a:off x="600000" y="465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07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Voting Records</a:t>
            </a:r>
          </a:p>
        </p:txBody>
      </p:sp>
      <p:sp>
        <p:nvSpPr>
          <p:cNvPr id="10" name="Scope 10"/>
          <p:cNvSpPr/>
          <p:nvPr/>
        </p:nvSpPr>
        <p:spPr>
          <a:xfrm>
            <a:off x="4346000" y="465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08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Results</a:t>
            </a:r>
          </a:p>
        </p:txBody>
      </p:sp>
      <p:sp>
        <p:nvSpPr>
          <p:cNvPr id="11" name="Scope 11"/>
          <p:cNvSpPr/>
          <p:nvPr/>
        </p:nvSpPr>
        <p:spPr>
          <a:xfrm>
            <a:off x="8092000" y="4650000"/>
            <a:ext cx="350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09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Admin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Feasibility Study</a:t>
            </a:r>
          </a:p>
        </p:txBody>
      </p:sp>
      <p:sp>
        <p:nvSpPr>
          <p:cNvPr id="3" name="Feasibility 3"/>
          <p:cNvSpPr/>
          <p:nvPr/>
        </p:nvSpPr>
        <p:spPr>
          <a:xfrm>
            <a:off x="600000" y="1500000"/>
            <a:ext cx="3500000" cy="39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80000" tIns="90000" rIns="180000" bIns="9000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600" b="1" cap="all" dirty="0">
                <a:solidFill>
                  <a:schemeClr val="tx1"/>
                </a:solidFill>
                <a:latin typeface="+mn-lt"/>
              </a:rPr>
              <a:t>Technical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React frontend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Spring Boot backend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MySQL database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REST APIs</a:t>
            </a:r>
          </a:p>
        </p:txBody>
      </p:sp>
      <p:sp>
        <p:nvSpPr>
          <p:cNvPr id="4" name="Feasibility 4"/>
          <p:cNvSpPr/>
          <p:nvPr/>
        </p:nvSpPr>
        <p:spPr>
          <a:xfrm>
            <a:off x="4346000" y="1500000"/>
            <a:ext cx="3500000" cy="39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80000" tIns="90000" rIns="180000" bIns="9000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600" b="1" cap="all" dirty="0">
                <a:solidFill>
                  <a:schemeClr val="tx1"/>
                </a:solidFill>
                <a:latin typeface="+mn-lt"/>
              </a:rPr>
              <a:t>Economic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Uses commonly available technologies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Relies on open-source tools and frameworks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No specialised hardware needed</a:t>
            </a:r>
          </a:p>
        </p:txBody>
      </p:sp>
      <p:sp>
        <p:nvSpPr>
          <p:cNvPr id="5" name="Feasibility 5"/>
          <p:cNvSpPr/>
          <p:nvPr/>
        </p:nvSpPr>
        <p:spPr>
          <a:xfrm>
            <a:off x="8092000" y="1500000"/>
            <a:ext cx="3500000" cy="390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80000" tIns="90000" rIns="180000" bIns="90000" anchor="t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600" b="1" cap="all" dirty="0">
                <a:solidFill>
                  <a:schemeClr val="tx1"/>
                </a:solidFill>
                <a:latin typeface="+mn-lt"/>
              </a:rPr>
              <a:t>Operational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Simple web interface for voters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Easy election administration for admins</a:t>
            </a:r>
          </a:p>
          <a:p>
            <a:pPr marL="228600" indent="-228600" algn="l">
              <a:lnSpc>
                <a:spcPct val="105000"/>
              </a:lnSpc>
              <a:spcBef>
                <a:spcPts val="500"/>
              </a:spcBef>
              <a:buFont typeface="Arial"/>
              <a:buChar char="•"/>
            </a:pPr>
            <a:r>
              <a:rPr lang="en-IN" sz="2000" cap="all" dirty="0">
                <a:solidFill>
                  <a:schemeClr val="tx1"/>
                </a:solidFill>
                <a:latin typeface="+mn-lt"/>
              </a:rPr>
              <a:t>Minimal training expected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Technology Stack</a:t>
            </a:r>
          </a:p>
        </p:txBody>
      </p:sp>
      <p:sp>
        <p:nvSpPr>
          <p:cNvPr id="3" name="Stack 3"/>
          <p:cNvSpPr/>
          <p:nvPr/>
        </p:nvSpPr>
        <p:spPr>
          <a:xfrm>
            <a:off x="600000" y="1550000"/>
            <a:ext cx="535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Frontend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React + Vite</a:t>
            </a:r>
          </a:p>
        </p:txBody>
      </p:sp>
      <p:sp>
        <p:nvSpPr>
          <p:cNvPr id="4" name="Stack 4"/>
          <p:cNvSpPr/>
          <p:nvPr/>
        </p:nvSpPr>
        <p:spPr>
          <a:xfrm>
            <a:off x="6242000" y="1550000"/>
            <a:ext cx="535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Backend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Java 21 + Spring Boot</a:t>
            </a:r>
          </a:p>
        </p:txBody>
      </p:sp>
      <p:sp>
        <p:nvSpPr>
          <p:cNvPr id="5" name="Stack 5"/>
          <p:cNvSpPr/>
          <p:nvPr/>
        </p:nvSpPr>
        <p:spPr>
          <a:xfrm>
            <a:off x="600000" y="3100000"/>
            <a:ext cx="535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Database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MySQL</a:t>
            </a:r>
          </a:p>
        </p:txBody>
      </p:sp>
      <p:sp>
        <p:nvSpPr>
          <p:cNvPr id="6" name="Stack 6"/>
          <p:cNvSpPr/>
          <p:nvPr/>
        </p:nvSpPr>
        <p:spPr>
          <a:xfrm>
            <a:off x="6242000" y="3100000"/>
            <a:ext cx="535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Communication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REST APIs</a:t>
            </a:r>
          </a:p>
        </p:txBody>
      </p:sp>
      <p:sp>
        <p:nvSpPr>
          <p:cNvPr id="7" name="Stack 7"/>
          <p:cNvSpPr/>
          <p:nvPr/>
        </p:nvSpPr>
        <p:spPr>
          <a:xfrm>
            <a:off x="600000" y="4650000"/>
            <a:ext cx="535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Security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BCrypt + OTP Verification</a:t>
            </a:r>
          </a:p>
        </p:txBody>
      </p:sp>
      <p:sp>
        <p:nvSpPr>
          <p:cNvPr id="8" name="Stack 8"/>
          <p:cNvSpPr/>
          <p:nvPr/>
        </p:nvSpPr>
        <p:spPr>
          <a:xfrm>
            <a:off x="6242000" y="4650000"/>
            <a:ext cx="5350000" cy="13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800" b="1" cap="all" dirty="0">
                <a:solidFill>
                  <a:schemeClr val="tx1"/>
                </a:solidFill>
                <a:latin typeface="+mn-lt"/>
              </a:rPr>
              <a:t>Tools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800" b="1" cap="all" dirty="0">
                <a:solidFill>
                  <a:schemeClr val="tx1"/>
                </a:solidFill>
                <a:latin typeface="+mn-lt"/>
              </a:rPr>
              <a:t>Maven + Git / 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Initial System Architecture</a:t>
            </a:r>
          </a:p>
        </p:txBody>
      </p:sp>
      <p:sp>
        <p:nvSpPr>
          <p:cNvPr id="3" name="Layer 3"/>
          <p:cNvSpPr/>
          <p:nvPr/>
        </p:nvSpPr>
        <p:spPr>
          <a:xfrm>
            <a:off x="600000" y="1450000"/>
            <a:ext cx="3800000" cy="860000"/>
          </a:xfrm>
          <a:prstGeom prst="rect">
            <a:avLst/>
          </a:prstGeom>
          <a:solidFill>
            <a:srgbClr val="D9D9D9">
              <a:alpha val="90000"/>
            </a:srgbClr>
          </a:solidFill>
          <a:ln w="12700">
            <a:solidFill>
              <a:srgbClr val="7F7F7F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USER</a:t>
            </a:r>
          </a:p>
        </p:txBody>
      </p:sp>
      <p:sp>
        <p:nvSpPr>
          <p:cNvPr id="4" name="Role 4"/>
          <p:cNvSpPr/>
          <p:nvPr/>
        </p:nvSpPr>
        <p:spPr>
          <a:xfrm>
            <a:off x="4700000" y="1450000"/>
            <a:ext cx="6892000" cy="86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900" cap="all" dirty="0">
                <a:solidFill>
                  <a:schemeClr val="tx1"/>
                </a:solidFill>
                <a:latin typeface="+mn-lt"/>
              </a:rPr>
              <a:t>Interacts with the system through a web browser to register, verify OTP and vote.</a:t>
            </a:r>
          </a:p>
        </p:txBody>
      </p:sp>
      <p:sp>
        <p:nvSpPr>
          <p:cNvPr id="5" name="Arrow 5"/>
          <p:cNvSpPr/>
          <p:nvPr/>
        </p:nvSpPr>
        <p:spPr>
          <a:xfrm>
            <a:off x="2330000" y="2330000"/>
            <a:ext cx="340000" cy="20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Layer 6"/>
          <p:cNvSpPr/>
          <p:nvPr/>
        </p:nvSpPr>
        <p:spPr>
          <a:xfrm>
            <a:off x="600000" y="2550000"/>
            <a:ext cx="3800000" cy="860000"/>
          </a:xfrm>
          <a:prstGeom prst="rect">
            <a:avLst/>
          </a:prstGeom>
          <a:solidFill>
            <a:srgbClr val="D9D9D9">
              <a:alpha val="90000"/>
            </a:srgbClr>
          </a:solidFill>
          <a:ln w="12700">
            <a:solidFill>
              <a:srgbClr val="7F7F7F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REACT FRONTEND</a:t>
            </a:r>
          </a:p>
        </p:txBody>
      </p:sp>
      <p:sp>
        <p:nvSpPr>
          <p:cNvPr id="7" name="Role 7"/>
          <p:cNvSpPr/>
          <p:nvPr/>
        </p:nvSpPr>
        <p:spPr>
          <a:xfrm>
            <a:off x="4700000" y="2550000"/>
            <a:ext cx="6892000" cy="86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900" cap="all" dirty="0">
                <a:solidFill>
                  <a:schemeClr val="tx1"/>
                </a:solidFill>
                <a:latin typeface="+mn-lt"/>
              </a:rPr>
              <a:t>Presents the user interface and sends requests to the backend through REST APIs.</a:t>
            </a:r>
          </a:p>
        </p:txBody>
      </p:sp>
      <p:sp>
        <p:nvSpPr>
          <p:cNvPr id="8" name="Arrow 8"/>
          <p:cNvSpPr/>
          <p:nvPr/>
        </p:nvSpPr>
        <p:spPr>
          <a:xfrm>
            <a:off x="2330000" y="3430000"/>
            <a:ext cx="340000" cy="20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Layer 9"/>
          <p:cNvSpPr/>
          <p:nvPr/>
        </p:nvSpPr>
        <p:spPr>
          <a:xfrm>
            <a:off x="600000" y="3650000"/>
            <a:ext cx="3800000" cy="860000"/>
          </a:xfrm>
          <a:prstGeom prst="rect">
            <a:avLst/>
          </a:prstGeom>
          <a:solidFill>
            <a:srgbClr val="D9D9D9">
              <a:alpha val="90000"/>
            </a:srgbClr>
          </a:solidFill>
          <a:ln w="12700">
            <a:solidFill>
              <a:srgbClr val="7F7F7F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SPRING BOOT BACKEND</a:t>
            </a:r>
          </a:p>
        </p:txBody>
      </p:sp>
      <p:sp>
        <p:nvSpPr>
          <p:cNvPr id="10" name="Role 10"/>
          <p:cNvSpPr/>
          <p:nvPr/>
        </p:nvSpPr>
        <p:spPr>
          <a:xfrm>
            <a:off x="4700000" y="3650000"/>
            <a:ext cx="6892000" cy="86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900" cap="all" dirty="0">
                <a:solidFill>
                  <a:schemeClr val="tx1"/>
                </a:solidFill>
                <a:latin typeface="+mn-lt"/>
              </a:rPr>
              <a:t>Handles business logic, OTP verification, voting rules and security checks.</a:t>
            </a:r>
          </a:p>
        </p:txBody>
      </p:sp>
      <p:sp>
        <p:nvSpPr>
          <p:cNvPr id="11" name="Arrow 11"/>
          <p:cNvSpPr/>
          <p:nvPr/>
        </p:nvSpPr>
        <p:spPr>
          <a:xfrm>
            <a:off x="2330000" y="4530000"/>
            <a:ext cx="340000" cy="20000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Layer 12"/>
          <p:cNvSpPr/>
          <p:nvPr/>
        </p:nvSpPr>
        <p:spPr>
          <a:xfrm>
            <a:off x="600000" y="4750000"/>
            <a:ext cx="3800000" cy="860000"/>
          </a:xfrm>
          <a:prstGeom prst="rect">
            <a:avLst/>
          </a:prstGeom>
          <a:solidFill>
            <a:srgbClr val="D9D9D9">
              <a:alpha val="90000"/>
            </a:srgbClr>
          </a:solidFill>
          <a:ln w="12700">
            <a:solidFill>
              <a:srgbClr val="7F7F7F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MYSQL DATABASE</a:t>
            </a:r>
          </a:p>
        </p:txBody>
      </p:sp>
      <p:sp>
        <p:nvSpPr>
          <p:cNvPr id="13" name="Role 13"/>
          <p:cNvSpPr/>
          <p:nvPr/>
        </p:nvSpPr>
        <p:spPr>
          <a:xfrm>
            <a:off x="4700000" y="4750000"/>
            <a:ext cx="6892000" cy="86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40000" tIns="70000" rIns="140000" bIns="7000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1900" cap="all" dirty="0">
                <a:solidFill>
                  <a:schemeClr val="tx1"/>
                </a:solidFill>
                <a:latin typeface="+mn-lt"/>
              </a:rPr>
              <a:t>Stores voter, election, candidate, OTP and vote data in relational tables.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Expected Outcome</a:t>
            </a:r>
          </a:p>
        </p:txBody>
      </p:sp>
      <p:sp>
        <p:nvSpPr>
          <p:cNvPr id="3" name="Intro 3"/>
          <p:cNvSpPr/>
          <p:nvPr/>
        </p:nvSpPr>
        <p:spPr>
          <a:xfrm>
            <a:off x="600000" y="1400000"/>
            <a:ext cx="109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200" b="1" cap="all" dirty="0">
                <a:solidFill>
                  <a:schemeClr val="tx1"/>
                </a:solidFill>
                <a:latin typeface="+mn-lt"/>
              </a:rPr>
              <a:t>The completed project is expected to provide: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quarter" idx="13"/>
          </p:nvPr>
        </p:nvSpPr>
        <p:spPr>
          <a:xfrm>
            <a:off x="600000" y="2000000"/>
            <a:ext cx="10992000" cy="4300000"/>
          </a:xfrm>
        </p:spPr>
        <p:txBody>
          <a:bodyPr>
            <a:normAutofit/>
          </a:bodyPr>
          <a:lstStyle/>
          <a:p>
            <a:pPr lvl="0"/>
            <a:r>
              <a:rPr lang="en-IN" sz="2600" dirty="0"/>
              <a:t>Authenticated voting using OTP verification</a:t>
            </a:r>
          </a:p>
          <a:p>
            <a:pPr lvl="0"/>
            <a:r>
              <a:rPr lang="en-IN" sz="2600" dirty="0"/>
              <a:t>Controlled voting access for verified voters only</a:t>
            </a:r>
          </a:p>
          <a:p>
            <a:pPr lvl="0"/>
            <a:r>
              <a:rPr lang="en-IN" sz="2600" dirty="0"/>
              <a:t>Duplicate-vote prevention within an election</a:t>
            </a:r>
          </a:p>
          <a:p>
            <a:pPr lvl="0"/>
            <a:r>
              <a:rPr lang="en-IN" sz="2600" dirty="0"/>
              <a:t>Structured database management using MySQL</a:t>
            </a:r>
          </a:p>
          <a:p>
            <a:pPr lvl="0"/>
            <a:r>
              <a:rPr lang="en-IN" sz="2600" dirty="0"/>
              <a:t>Election administration for admins</a:t>
            </a:r>
          </a:p>
          <a:p>
            <a:pPr lvl="0"/>
            <a:r>
              <a:rPr lang="en-IN" sz="2600" dirty="0"/>
              <a:t>Automated result handling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Project Plan / Timeline</a:t>
            </a:r>
          </a:p>
        </p:txBody>
      </p:sp>
      <p:sp>
        <p:nvSpPr>
          <p:cNvPr id="3" name="Stage 3"/>
          <p:cNvSpPr/>
          <p:nvPr/>
        </p:nvSpPr>
        <p:spPr>
          <a:xfrm>
            <a:off x="600000" y="1650000"/>
            <a:ext cx="2500000" cy="17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1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Requirement Analysis</a:t>
            </a:r>
          </a:p>
        </p:txBody>
      </p:sp>
      <p:sp>
        <p:nvSpPr>
          <p:cNvPr id="4" name="Arrow 4"/>
          <p:cNvSpPr/>
          <p:nvPr/>
        </p:nvSpPr>
        <p:spPr>
          <a:xfrm>
            <a:off x="3150000" y="2375000"/>
            <a:ext cx="230666" cy="3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tage 5"/>
          <p:cNvSpPr/>
          <p:nvPr/>
        </p:nvSpPr>
        <p:spPr>
          <a:xfrm>
            <a:off x="3430666" y="1650000"/>
            <a:ext cx="2500000" cy="17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2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System Design</a:t>
            </a:r>
          </a:p>
        </p:txBody>
      </p:sp>
      <p:sp>
        <p:nvSpPr>
          <p:cNvPr id="6" name="Arrow 6"/>
          <p:cNvSpPr/>
          <p:nvPr/>
        </p:nvSpPr>
        <p:spPr>
          <a:xfrm>
            <a:off x="5980666" y="2375000"/>
            <a:ext cx="230666" cy="3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tage 7"/>
          <p:cNvSpPr/>
          <p:nvPr/>
        </p:nvSpPr>
        <p:spPr>
          <a:xfrm>
            <a:off x="6261332" y="1650000"/>
            <a:ext cx="2500000" cy="17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3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Database Design</a:t>
            </a:r>
          </a:p>
        </p:txBody>
      </p:sp>
      <p:sp>
        <p:nvSpPr>
          <p:cNvPr id="8" name="Arrow 8"/>
          <p:cNvSpPr/>
          <p:nvPr/>
        </p:nvSpPr>
        <p:spPr>
          <a:xfrm>
            <a:off x="8811332" y="2375000"/>
            <a:ext cx="230666" cy="3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9" name="Stage 9"/>
          <p:cNvSpPr/>
          <p:nvPr/>
        </p:nvSpPr>
        <p:spPr>
          <a:xfrm>
            <a:off x="9091998" y="1650000"/>
            <a:ext cx="2500000" cy="17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4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Frontend Development</a:t>
            </a:r>
          </a:p>
        </p:txBody>
      </p:sp>
      <p:sp>
        <p:nvSpPr>
          <p:cNvPr id="10" name="Stage 10"/>
          <p:cNvSpPr/>
          <p:nvPr/>
        </p:nvSpPr>
        <p:spPr>
          <a:xfrm>
            <a:off x="600000" y="3900000"/>
            <a:ext cx="2500000" cy="17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5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Backend Development</a:t>
            </a:r>
          </a:p>
        </p:txBody>
      </p:sp>
      <p:sp>
        <p:nvSpPr>
          <p:cNvPr id="11" name="Arrow 11"/>
          <p:cNvSpPr/>
          <p:nvPr/>
        </p:nvSpPr>
        <p:spPr>
          <a:xfrm>
            <a:off x="3150000" y="4625000"/>
            <a:ext cx="230666" cy="3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Stage 12"/>
          <p:cNvSpPr/>
          <p:nvPr/>
        </p:nvSpPr>
        <p:spPr>
          <a:xfrm>
            <a:off x="3430666" y="3900000"/>
            <a:ext cx="2500000" cy="17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6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Integration</a:t>
            </a:r>
          </a:p>
        </p:txBody>
      </p:sp>
      <p:sp>
        <p:nvSpPr>
          <p:cNvPr id="13" name="Arrow 13"/>
          <p:cNvSpPr/>
          <p:nvPr/>
        </p:nvSpPr>
        <p:spPr>
          <a:xfrm>
            <a:off x="5980666" y="4625000"/>
            <a:ext cx="230666" cy="3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" name="Stage 14"/>
          <p:cNvSpPr/>
          <p:nvPr/>
        </p:nvSpPr>
        <p:spPr>
          <a:xfrm>
            <a:off x="6261332" y="3900000"/>
            <a:ext cx="2500000" cy="17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7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Testing</a:t>
            </a:r>
          </a:p>
        </p:txBody>
      </p:sp>
      <p:sp>
        <p:nvSpPr>
          <p:cNvPr id="15" name="Arrow 15"/>
          <p:cNvSpPr/>
          <p:nvPr/>
        </p:nvSpPr>
        <p:spPr>
          <a:xfrm>
            <a:off x="8811332" y="4625000"/>
            <a:ext cx="230666" cy="3000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6" name="Stage 16"/>
          <p:cNvSpPr/>
          <p:nvPr/>
        </p:nvSpPr>
        <p:spPr>
          <a:xfrm>
            <a:off x="9091998" y="3900000"/>
            <a:ext cx="2500000" cy="175000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7F7F7F"/>
            </a:solidFill>
          </a:ln>
        </p:spPr>
        <p:txBody>
          <a:bodyPr wrap="square" lIns="100000" tIns="50000" rIns="100000" bIns="50000" anchor="ctr">
            <a:noAutofit/>
          </a:bodyPr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3600" b="1" cap="all" dirty="0">
                <a:solidFill>
                  <a:schemeClr val="tx1"/>
                </a:solidFill>
                <a:latin typeface="+mn-lt"/>
              </a:rPr>
              <a:t>8</a:t>
            </a: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IN" sz="2000" b="1" cap="all" dirty="0">
                <a:solidFill>
                  <a:schemeClr val="tx1"/>
                </a:solidFill>
                <a:latin typeface="+mn-lt"/>
              </a:rPr>
              <a:t>Final Demonstration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00000" y="380000"/>
            <a:ext cx="10992000" cy="900000"/>
          </a:xfrm>
        </p:spPr>
        <p:txBody>
          <a:bodyPr/>
          <a:lstStyle/>
          <a:p>
            <a:pPr algn="l"/>
            <a:r>
              <a:rPr lang="en-IN" dirty="0"/>
              <a:t>Conclusion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quarter" idx="13"/>
          </p:nvPr>
        </p:nvSpPr>
        <p:spPr>
          <a:xfrm>
            <a:off x="600000" y="1500000"/>
            <a:ext cx="10992000" cy="4700000"/>
          </a:xfrm>
        </p:spPr>
        <p:txBody>
          <a:bodyPr>
            <a:normAutofit/>
          </a:bodyPr>
          <a:lstStyle/>
          <a:p>
            <a:pPr lvl="0"/>
            <a:r>
              <a:rPr lang="en-IN" sz="2800" dirty="0"/>
              <a:t>The proposed Online Voting System aims to provide a secure, web-based digital voting platform.</a:t>
            </a:r>
          </a:p>
          <a:p>
            <a:pPr lvl="0"/>
            <a:r>
              <a:rPr lang="en-IN" sz="2800" dirty="0"/>
              <a:t>OTP verification, Spring Boot and MySQL are planned to deliver authenticated and controlled voting.</a:t>
            </a:r>
          </a:p>
          <a:p>
            <a:pPr lvl="0"/>
            <a:r>
              <a:rPr lang="en-IN" sz="2800" dirty="0"/>
              <a:t>Expected benefits: duplicate-vote prevention, accurate records and efficient election and result management.</a:t>
            </a:r>
          </a:p>
          <a:p>
            <a:pPr lvl="0"/>
            <a:r>
              <a:rPr lang="en-IN" sz="2800" dirty="0"/>
              <a:t>The project will apply concepts of database engineering and backend development, including SQL, REST APIs and authentication.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{4BFD07D1-45E2-4731-99CF-6C2AF7303763}TF62d0d592-7ac2-4846-a919-75806e8bead47c13978d-7a72a11451b2</Template>
  <TotalTime>42</TotalTime>
  <Words>686</Words>
  <Application>Microsoft Office PowerPoint</Application>
  <PresentationFormat>Widescreen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Schoolbook</vt:lpstr>
      <vt:lpstr>Tw Cen MT</vt:lpstr>
      <vt:lpstr>Droplet</vt:lpstr>
      <vt:lpstr>  Online Voting System with              Aadhaar-Style OTP Verification</vt:lpstr>
      <vt:lpstr>Introduction</vt:lpstr>
      <vt:lpstr>Key Idea</vt:lpstr>
      <vt:lpstr>Problem Statement</vt:lpstr>
      <vt:lpstr>Objectives</vt:lpstr>
      <vt:lpstr>Existing System</vt:lpstr>
      <vt:lpstr>Proposed System</vt:lpstr>
      <vt:lpstr>Scope</vt:lpstr>
      <vt:lpstr>Feasibility Study</vt:lpstr>
      <vt:lpstr>Technology Stack</vt:lpstr>
      <vt:lpstr>Initial System Architecture</vt:lpstr>
      <vt:lpstr>Expected Outcome</vt:lpstr>
      <vt:lpstr>Project Plan / Timeline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Jhanasri Thota</dc:creator>
  <cp:lastModifiedBy>Jhanasri Thota</cp:lastModifiedBy>
  <cp:revision>2</cp:revision>
  <dcterms:created xsi:type="dcterms:W3CDTF">2026-08-26T03:18:19Z</dcterms:created>
  <dcterms:modified xsi:type="dcterms:W3CDTF">2026-10-02T17:57:45Z</dcterms:modified>
</cp:coreProperties>
</file>
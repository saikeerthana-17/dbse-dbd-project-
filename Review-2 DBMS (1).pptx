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Century Schoolbook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93E2E9-86D4-4A57-A978-6721D995D4A5}">
  <a:tblStyle styleId="{4093E2E9-86D4-4A57-A978-6721D995D4A5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0FC"/>
          </a:solidFill>
        </a:fill>
      </a:tcStyle>
    </a:wholeTbl>
    <a:band1H>
      <a:tcTxStyle/>
      <a:tcStyle>
        <a:fill>
          <a:solidFill>
            <a:srgbClr val="CCE0F8"/>
          </a:solidFill>
        </a:fill>
      </a:tcStyle>
    </a:band1H>
    <a:band2H>
      <a:tcTxStyle/>
    </a:band2H>
    <a:band1V>
      <a:tcTxStyle/>
      <a:tcStyle>
        <a:fill>
          <a:solidFill>
            <a:srgbClr val="CCE0F8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Schoolbook-bold.fntdata"/><Relationship Id="rId16" Type="http://schemas.openxmlformats.org/officeDocument/2006/relationships/font" Target="fonts/CenturySchoolbook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Schoolbook-boldItalic.fntdata"/><Relationship Id="rId6" Type="http://schemas.openxmlformats.org/officeDocument/2006/relationships/slide" Target="slides/slide1.xml"/><Relationship Id="rId18" Type="http://schemas.openxmlformats.org/officeDocument/2006/relationships/font" Target="fonts/CenturySchoolbook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8" name="Google Shape;4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8" name="Google Shape;5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1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7" name="Google Shape;127;p1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1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0" name="Google Shape;130;p1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1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3" name="Google Shape;133;p1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Jhanasri-thota/DBS-DS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ctrTitle"/>
          </p:nvPr>
        </p:nvSpPr>
        <p:spPr>
          <a:xfrm>
            <a:off x="-247891" y="372884"/>
            <a:ext cx="12115799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lang="en-US" sz="4000">
                <a:latin typeface="Century Schoolbook"/>
                <a:ea typeface="Century Schoolbook"/>
                <a:cs typeface="Century Schoolbook"/>
                <a:sym typeface="Century Schoolbook"/>
              </a:rPr>
              <a:t>VOTINGHUB – ONLINE VOTING SYSTEM</a:t>
            </a:r>
            <a:endParaRPr/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>
            <a:off x="335667" y="2800000"/>
            <a:ext cx="115000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/>
              <a:t>ONLINE VOTING SYSTEM WITH AADHAAR-STYLE OTP VERIFICATION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 sz="2000"/>
              <a:t>[FINAL REVIEW-2]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b="1" lang="en-US" sz="1600"/>
              <a:t>DATABASE SYSTEMS ENGINEERING AND DISTRIBUTED BACKEND DEVELOPMENT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COURSE CODE: </a:t>
            </a:r>
            <a:r>
              <a:rPr b="0" lang="en-US" sz="1400"/>
              <a:t>25CS1302E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SECTION: </a:t>
            </a:r>
            <a:r>
              <a:rPr b="0" lang="en-US" sz="1400"/>
              <a:t>12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TEAM NO.: </a:t>
            </a:r>
            <a:r>
              <a:rPr b="0" lang="en-US" sz="1400"/>
              <a:t>9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n-US" sz="1600"/>
              <a:t>TEAM MEMBERS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262626"/>
                </a:solidFill>
              </a:rPr>
              <a:t>2520090132 - KEERTHANA G.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262626"/>
                </a:solidFill>
              </a:rPr>
              <a:t>2520090121 - THOTA JHANA SRI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262626"/>
                </a:solidFill>
              </a:rPr>
              <a:t>2520090126 - SUTTE ALEKHYA</a:t>
            </a:r>
            <a:endParaRPr/>
          </a:p>
        </p:txBody>
      </p:sp>
      <p:pic>
        <p:nvPicPr>
          <p:cNvPr descr="logo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4789" y="-4541"/>
            <a:ext cx="1789192" cy="177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INTRODUCTION &amp; OBJECTIVES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57200" y="1188720"/>
            <a:ext cx="548640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6245352" y="1188720"/>
            <a:ext cx="548640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INTRODUCTION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40080" y="1737360"/>
            <a:ext cx="5120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VOTINGHUB IS A WEB-BASED ONLINE VOTING SYSTEM.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PROVIDES DIGITAL VOTER REGISTRATION AND AUTHENTICATION.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 VERIFICATION ADDS AN ADDITIONAL AUTHENTICATION LAYER.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VERIFIED VOTERS CAN ACCESS THE VOTING INTERFACE.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ELECTIONS AND CANDIDATES ARE MANAGED THROUGH THE SYSTEM.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MAINTAINS CONTROLLED VOTING AND RESULT MANAGEMENT.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428232" y="12801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OBJECTIVES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428232" y="1737360"/>
            <a:ext cx="5120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AUTHENTICATE VOTERS USING OTP VERIFICATION.</a:t>
            </a:r>
            <a:endParaRPr/>
          </a:p>
          <a:p>
            <a:pPr indent="-228600" lvl="0" marL="228600" marR="0" rtl="0" algn="l">
              <a:spcBef>
                <a:spcPts val="22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PROVIDE A SIMPLE ONLINE VOTING INTERFACE.</a:t>
            </a:r>
            <a:endParaRPr/>
          </a:p>
          <a:p>
            <a:pPr indent="-228600" lvl="0" marL="228600" marR="0" rtl="0" algn="l">
              <a:spcBef>
                <a:spcPts val="22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ALLOW ONLY VERIFIED VOTERS TO VOTE.</a:t>
            </a:r>
            <a:endParaRPr/>
          </a:p>
          <a:p>
            <a:pPr indent="-228600" lvl="0" marL="228600" marR="0" rtl="0" algn="l">
              <a:spcBef>
                <a:spcPts val="22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PREVENT MULTIPLE VOTING IN THE SAME ELECTION.</a:t>
            </a:r>
            <a:endParaRPr/>
          </a:p>
          <a:p>
            <a:pPr indent="-228600" lvl="0" marL="228600" marR="0" rtl="0" algn="l">
              <a:spcBef>
                <a:spcPts val="22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MAINTAIN ACCURATE VOTING RECORDS.</a:t>
            </a:r>
            <a:endParaRPr/>
          </a:p>
          <a:p>
            <a:pPr indent="-228600" lvl="0" marL="228600" marR="0" rtl="0" algn="l">
              <a:spcBef>
                <a:spcPts val="22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SIMPLIFY ELECTION AND RESULT MANAGEMENT.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457200" y="5577840"/>
            <a:ext cx="11274552" cy="548640"/>
          </a:xfrm>
          <a:prstGeom prst="roundRect">
            <a:avLst>
              <a:gd fmla="val 8000" name="adj"/>
            </a:avLst>
          </a:prstGeom>
          <a:solidFill>
            <a:srgbClr val="E6ECF3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KEY IDEA:  </a:t>
            </a: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SECURE AUTHENTICATION + DATABASE MANAGEMENT + ONLINE VOTING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FINAL SYSTEM ARCHITECTURE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4498848" y="1143000"/>
            <a:ext cx="3200400" cy="640080"/>
          </a:xfrm>
          <a:prstGeom prst="roundRect">
            <a:avLst>
              <a:gd fmla="val 8000" name="adj"/>
            </a:avLst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REACT FRONTEND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:5174</a:t>
            </a:r>
            <a:endParaRPr/>
          </a:p>
        </p:txBody>
      </p:sp>
      <p:cxnSp>
        <p:nvCxnSpPr>
          <p:cNvPr id="176" name="Google Shape;176;p21"/>
          <p:cNvCxnSpPr/>
          <p:nvPr/>
        </p:nvCxnSpPr>
        <p:spPr>
          <a:xfrm>
            <a:off x="6099048" y="178308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1"/>
          <p:cNvCxnSpPr/>
          <p:nvPr/>
        </p:nvCxnSpPr>
        <p:spPr>
          <a:xfrm>
            <a:off x="2075688" y="2148840"/>
            <a:ext cx="8046720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1"/>
          <p:cNvCxnSpPr/>
          <p:nvPr/>
        </p:nvCxnSpPr>
        <p:spPr>
          <a:xfrm>
            <a:off x="2075688" y="214884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21"/>
          <p:cNvCxnSpPr/>
          <p:nvPr/>
        </p:nvCxnSpPr>
        <p:spPr>
          <a:xfrm>
            <a:off x="6099048" y="214884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21"/>
          <p:cNvCxnSpPr/>
          <p:nvPr/>
        </p:nvCxnSpPr>
        <p:spPr>
          <a:xfrm>
            <a:off x="10122408" y="214884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21"/>
          <p:cNvSpPr/>
          <p:nvPr/>
        </p:nvSpPr>
        <p:spPr>
          <a:xfrm>
            <a:off x="475488" y="2514600"/>
            <a:ext cx="3200400" cy="685800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 SERVICE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:8081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475488" y="3200400"/>
            <a:ext cx="32004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566928" y="329184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REGISTRATION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LOGIN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AUTHENTICATION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498848" y="2514600"/>
            <a:ext cx="3200400" cy="685800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SERVICE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:8082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498848" y="3200400"/>
            <a:ext cx="32004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590288" y="329184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ELECTIONS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CANDIDATES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STATUS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8522208" y="2514600"/>
            <a:ext cx="3200400" cy="685800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SERVICE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:8083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8522208" y="3200400"/>
            <a:ext cx="320040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8613648" y="329184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ELIGIBILITY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 PROCESSING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DUPLICATE-VOTE PREVENTION</a:t>
            </a:r>
            <a:endParaRPr/>
          </a:p>
          <a:p>
            <a:pPr indent="-228600" lvl="0" marL="228600" marR="0" rtl="0" algn="l"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AUTHORIZATION</a:t>
            </a:r>
            <a:endParaRPr/>
          </a:p>
        </p:txBody>
      </p:sp>
      <p:cxnSp>
        <p:nvCxnSpPr>
          <p:cNvPr id="190" name="Google Shape;190;p21"/>
          <p:cNvCxnSpPr/>
          <p:nvPr/>
        </p:nvCxnSpPr>
        <p:spPr>
          <a:xfrm rot="10800000">
            <a:off x="7699248" y="2857500"/>
            <a:ext cx="822960" cy="0"/>
          </a:xfrm>
          <a:prstGeom prst="straightConnector1">
            <a:avLst/>
          </a:prstGeom>
          <a:noFill/>
          <a:ln cap="flat" cmpd="sng" w="25400">
            <a:solidFill>
              <a:srgbClr val="CE66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21"/>
          <p:cNvSpPr txBox="1"/>
          <p:nvPr/>
        </p:nvSpPr>
        <p:spPr>
          <a:xfrm>
            <a:off x="7662672" y="2514600"/>
            <a:ext cx="896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E663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REST API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75488" y="5257800"/>
            <a:ext cx="11247120" cy="731520"/>
          </a:xfrm>
          <a:prstGeom prst="roundRect">
            <a:avLst>
              <a:gd fmla="val 8000" name="adj"/>
            </a:avLst>
          </a:prstGeom>
          <a:solidFill>
            <a:srgbClr val="E6ECF3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Service → Election Service: </a:t>
            </a: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services communicate through REST APIs; no service accesses another service's database directly.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DATABASE DESIGN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457200" y="1143000"/>
            <a:ext cx="3657600" cy="384048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votehub_auth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457200" y="1527048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Users / Voter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identity, status, hashed password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457200" y="2093976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 Verifications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 code, expiry, attempts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457200" y="2660904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login sessions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457200" y="3227832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Notifications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 notifications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4270248" y="1143000"/>
            <a:ext cx="3657600" cy="384048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votehub_election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4270248" y="1527048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details and status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4270248" y="2093976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Candidates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candidates per election (FK)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4270248" y="2660904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Events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lifecycle events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4270248" y="3227832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System Settings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system configuration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8074152" y="1143000"/>
            <a:ext cx="3657600" cy="384048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votehub_voting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8074152" y="1527048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Authorizations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 voter, per election; used flag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8074152" y="2093976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stored ballots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8074152" y="2660904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History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voter participation record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8074152" y="3227832"/>
            <a:ext cx="36576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109725" spcFirstLastPara="1" rIns="73150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Audit Logs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audit trail of vote events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457200" y="4023360"/>
            <a:ext cx="553212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3715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KEYS &amp; RELATIONSHIPS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Every table has a primary key.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Candidates → Elections (foreign key).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 verifications → Users (foreign key).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Authorizations and votes are tied to an election.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Cross-service links are ID references, resolved through REST.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6199632" y="4023360"/>
            <a:ext cx="553212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37150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CONSTRAINTS &amp; VOTE HANDLING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authorization records whether a voter has voted.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Database constraints add duplicate-vote protection.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Authorization is stored separately from ballot data.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Each microservice owns its own logical database.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AUTHENTICATION &amp; SECURITY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457200" y="1188720"/>
            <a:ext cx="365760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REGISTRATION &amp; OTP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94360" y="182880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VOTER REGISTRATION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 VERIFICATION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 EXPIRY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MAXIMUM OTP ATTEMPTS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RESEND INVALIDATES PREVIOUS OTP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4270248" y="1188720"/>
            <a:ext cx="365760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4270248" y="1188720"/>
            <a:ext cx="3657600" cy="457200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CREDENTIALS &amp; ACCESS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4407408" y="182880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BCRYPT PASSWORD HASHING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AUTHENTICATION (LOGIN)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AUTHORIZATION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PROTECTED AADHAAR REPRESENTATION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8074152" y="1188720"/>
            <a:ext cx="365760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8074152" y="1188720"/>
            <a:ext cx="3657600" cy="457200"/>
          </a:xfrm>
          <a:prstGeom prst="rect">
            <a:avLst/>
          </a:prstGeom>
          <a:solidFill>
            <a:srgbClr val="355071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INTEGRITY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211312" y="182880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ELIGIBILITY VALIDATION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DUPLICATE-VOTE PREVENTION</a:t>
            </a:r>
            <a:endParaRPr/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CHECKS ENFORCED IN THE BACKEND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457200" y="4846320"/>
            <a:ext cx="11274552" cy="118872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5400">
            <a:solidFill>
              <a:srgbClr val="CE6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E663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DEMO NOTICE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Aadhaar-style OTP is a DEMO verification mechanism. It is NOT real UIDAI / Aadhaar integration.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VOTING WORKFLOW &amp; DUPLICATE PREVENTION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457200" y="1188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LOGIN</a:t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2395728" y="1188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SELECT ACTIVE ELECTION</a:t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4334256" y="1188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ELIGIBILITY CHECK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6272784" y="1188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AUTHORIZATION CHECK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8211312" y="1188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SELECT CANDIDATE</a:t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10149840" y="1188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SUBMIT VOTE</a:t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10149840" y="2331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DUPLICATE-VOTE CHECK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8211312" y="2331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STORE BALLOT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6272784" y="2331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MARK AUTHORIZATION USED</a:t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4334256" y="2331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3550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AUDIT EVENT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2395728" y="2331720"/>
            <a:ext cx="1554480" cy="777240"/>
          </a:xfrm>
          <a:prstGeom prst="roundRect">
            <a:avLst>
              <a:gd fmla="val 8000" name="adj"/>
            </a:avLst>
          </a:prstGeom>
          <a:solidFill>
            <a:srgbClr val="4B8F3A"/>
          </a:solidFill>
          <a:ln cap="flat" cmpd="sng" w="9525">
            <a:solidFill>
              <a:srgbClr val="4B8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 RECORDED</a:t>
            </a:r>
            <a:endParaRPr/>
          </a:p>
        </p:txBody>
      </p:sp>
      <p:cxnSp>
        <p:nvCxnSpPr>
          <p:cNvPr id="246" name="Google Shape;246;p24"/>
          <p:cNvCxnSpPr/>
          <p:nvPr/>
        </p:nvCxnSpPr>
        <p:spPr>
          <a:xfrm>
            <a:off x="2011680" y="1577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7" name="Google Shape;247;p24"/>
          <p:cNvCxnSpPr/>
          <p:nvPr/>
        </p:nvCxnSpPr>
        <p:spPr>
          <a:xfrm>
            <a:off x="3950208" y="1577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24"/>
          <p:cNvCxnSpPr/>
          <p:nvPr/>
        </p:nvCxnSpPr>
        <p:spPr>
          <a:xfrm>
            <a:off x="5888736" y="1577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" name="Google Shape;249;p24"/>
          <p:cNvCxnSpPr/>
          <p:nvPr/>
        </p:nvCxnSpPr>
        <p:spPr>
          <a:xfrm>
            <a:off x="7827264" y="1577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" name="Google Shape;250;p24"/>
          <p:cNvCxnSpPr/>
          <p:nvPr/>
        </p:nvCxnSpPr>
        <p:spPr>
          <a:xfrm>
            <a:off x="9765792" y="1577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1" name="Google Shape;251;p24"/>
          <p:cNvCxnSpPr/>
          <p:nvPr/>
        </p:nvCxnSpPr>
        <p:spPr>
          <a:xfrm>
            <a:off x="10927080" y="196596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24"/>
          <p:cNvCxnSpPr/>
          <p:nvPr/>
        </p:nvCxnSpPr>
        <p:spPr>
          <a:xfrm rot="10800000">
            <a:off x="9765792" y="2720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" name="Google Shape;253;p24"/>
          <p:cNvCxnSpPr/>
          <p:nvPr/>
        </p:nvCxnSpPr>
        <p:spPr>
          <a:xfrm rot="10800000">
            <a:off x="7827264" y="2720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" name="Google Shape;254;p24"/>
          <p:cNvCxnSpPr/>
          <p:nvPr/>
        </p:nvCxnSpPr>
        <p:spPr>
          <a:xfrm rot="10800000">
            <a:off x="5888736" y="2720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24"/>
          <p:cNvCxnSpPr/>
          <p:nvPr/>
        </p:nvCxnSpPr>
        <p:spPr>
          <a:xfrm rot="10800000">
            <a:off x="3950208" y="2720340"/>
            <a:ext cx="384048" cy="0"/>
          </a:xfrm>
          <a:prstGeom prst="straightConnector1">
            <a:avLst/>
          </a:prstGeom>
          <a:noFill/>
          <a:ln cap="flat" cmpd="sng" w="19050">
            <a:solidFill>
              <a:srgbClr val="35507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24"/>
          <p:cNvSpPr/>
          <p:nvPr/>
        </p:nvSpPr>
        <p:spPr>
          <a:xfrm>
            <a:off x="457200" y="3474720"/>
            <a:ext cx="5532120" cy="2651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594360" y="35204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BACKEND-ENFORCED RULES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94360" y="3931920"/>
            <a:ext cx="53035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Backend is authoritative.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Frontend button disabling is not the security mechanism.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authorization tracks whether the voter has already voted.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Database constraints give additional duplicate protection.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6199632" y="3474720"/>
            <a:ext cx="5532120" cy="2651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6336792" y="35204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 STORAGE DESIGN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6336792" y="3931920"/>
            <a:ext cx="530352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Voter authorization and ballot information are stored separately.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Authorization is marked used only after the ballot is stored.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Designed to separate who may vote from what was cast; not claimed as a cryptographic-grade secret ballot.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FINAL IMPLEMENTATION – VOTER INTERFACE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457200" y="118872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457200" y="118872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457200" y="29900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HOME PAGE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3319272" y="118872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3319272" y="118872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3319272" y="29900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VOTER REGISTRATION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6181344" y="118872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6181344" y="118872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181344" y="29900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 VERIFICATION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9043416" y="118872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9043416" y="118872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9043416" y="299008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LOGIN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457200" y="356616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457200" y="356616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457200" y="53675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VOTER DASHBOARD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3319272" y="356616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3319272" y="356616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3319272" y="53675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LIVE / ACTIVE ELECTION</a:t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6181344" y="356616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6181344" y="356616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181344" y="53675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PAGE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9043416" y="3566160"/>
            <a:ext cx="265176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9043416" y="3566160"/>
            <a:ext cx="26517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Insert actual screenshot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9043416" y="53675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 HISTORY</a:t>
            </a:r>
            <a:endParaRPr/>
          </a:p>
        </p:txBody>
      </p:sp>
      <p:pic>
        <p:nvPicPr>
          <p:cNvPr id="291" name="Google Shape;2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88725"/>
            <a:ext cx="2651750" cy="178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9275" y="1188725"/>
            <a:ext cx="2651750" cy="178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1350" y="1223525"/>
            <a:ext cx="2651750" cy="174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3425" y="1188725"/>
            <a:ext cx="2651750" cy="178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" y="3583575"/>
            <a:ext cx="2651750" cy="174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19275" y="3583575"/>
            <a:ext cx="2651750" cy="168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81350" y="3584425"/>
            <a:ext cx="2651751" cy="17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043425" y="3584425"/>
            <a:ext cx="2651751" cy="17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>
            <p:ph type="title"/>
          </p:nvPr>
        </p:nvSpPr>
        <p:spPr>
          <a:xfrm>
            <a:off x="388875" y="228595"/>
            <a:ext cx="11247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ADMIN MODULE &amp; API / MICROSERVICE TESTING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ADMIN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2670325" y="1472222"/>
            <a:ext cx="17373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2670300" y="3035833"/>
            <a:ext cx="173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ADMIN DASHBOARD</a:t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6949220" y="1472235"/>
            <a:ext cx="17373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6949220" y="3035833"/>
            <a:ext cx="173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MANAGEMENT</a:t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2194490" y="4054485"/>
            <a:ext cx="17373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2194490" y="5652246"/>
            <a:ext cx="1737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CANDIDATE MANAGEMENT</a:t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8494425" y="4081275"/>
            <a:ext cx="17373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457200" y="3657600"/>
            <a:ext cx="173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8494425" y="5667748"/>
            <a:ext cx="173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RESULTS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5517020" y="4081263"/>
            <a:ext cx="1737300" cy="150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5462370" y="5667748"/>
            <a:ext cx="1737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AUDIT LOGS</a:t>
            </a:r>
            <a:endParaRPr/>
          </a:p>
        </p:txBody>
      </p:sp>
      <p:pic>
        <p:nvPicPr>
          <p:cNvPr id="316" name="Google Shape;3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000" y="4108538"/>
            <a:ext cx="1737349" cy="145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300" y="1262850"/>
            <a:ext cx="1737349" cy="145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4450" y="4081275"/>
            <a:ext cx="1737348" cy="158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9225" y="1474325"/>
            <a:ext cx="1737300" cy="150869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320" name="Google Shape;32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94425" y="4108525"/>
            <a:ext cx="1737300" cy="14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TESTING, RESULTS &amp; TEAM CONTRIBUTION</a:t>
            </a:r>
            <a:endParaRPr/>
          </a:p>
        </p:txBody>
      </p:sp>
      <p:graphicFrame>
        <p:nvGraphicFramePr>
          <p:cNvPr id="326" name="Google Shape;326;p27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{4093E2E9-86D4-4A57-A978-6721D995D4A5}</a:tableStyleId>
              </a:tblPr>
              <a:tblGrid>
                <a:gridCol w="1600200"/>
                <a:gridCol w="3246125"/>
                <a:gridCol w="11887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3550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cap="none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3550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cap="none">
                          <a:solidFill>
                            <a:srgbClr val="FFFFFF"/>
                          </a:solidFill>
                        </a:rPr>
                        <a:t>STATUS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35507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Valid registration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Voter account created, OTP issued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OTP verification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Correct OTP verifies the voter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Login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Verified voter logs in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Election retrieval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Elections returned by Election Service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Candidate retrieval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Candidates of an election returned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Valid vote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Ballot stored, authorization marked used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Duplicate vote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Second vote in same election rejected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Closed election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Voting on closed election rejected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Results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Vote counts shown for the election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TO CONFIRM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27"/>
          <p:cNvSpPr txBox="1"/>
          <p:nvPr/>
        </p:nvSpPr>
        <p:spPr>
          <a:xfrm>
            <a:off x="6766560" y="10515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RESULTS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6766560" y="1417320"/>
            <a:ext cx="4937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WORKING WEB-BASED VOTING WORKFLOW</a:t>
            </a:r>
            <a:endParaRPr/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AUTHENTICATION AND OTP VERIFICATION</a:t>
            </a:r>
            <a:endParaRPr/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AND CANDIDATE MANAGEMENT</a:t>
            </a:r>
            <a:endParaRPr/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CONTROLLED VOTING ACCESS</a:t>
            </a:r>
            <a:endParaRPr/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DUPLICATE-VOTE PREVENTION</a:t>
            </a:r>
            <a:endParaRPr/>
          </a:p>
          <a:p>
            <a:pPr indent="-228600" lvl="0" marL="228600" marR="0" rtl="0" algn="l">
              <a:spcBef>
                <a:spcPts val="7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MICROSERVICE-BASED BACKEND ARCHITECTURE</a:t>
            </a:r>
            <a:endParaRPr/>
          </a:p>
        </p:txBody>
      </p:sp>
      <p:sp>
        <p:nvSpPr>
          <p:cNvPr id="329" name="Google Shape;329;p27"/>
          <p:cNvSpPr txBox="1"/>
          <p:nvPr/>
        </p:nvSpPr>
        <p:spPr>
          <a:xfrm>
            <a:off x="6766560" y="38404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TEAM CONTRIBUTIONS</a:t>
            </a:r>
            <a:endParaRPr/>
          </a:p>
        </p:txBody>
      </p:sp>
      <p:graphicFrame>
        <p:nvGraphicFramePr>
          <p:cNvPr id="330" name="Google Shape;330;p27"/>
          <p:cNvGraphicFramePr/>
          <p:nvPr/>
        </p:nvGraphicFramePr>
        <p:xfrm>
          <a:off x="6766560" y="4251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{4093E2E9-86D4-4A57-A978-6721D995D4A5}</a:tableStyleId>
              </a:tblPr>
              <a:tblGrid>
                <a:gridCol w="1920250"/>
                <a:gridCol w="30449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cap="none">
                          <a:solidFill>
                            <a:srgbClr val="FFFFFF"/>
                          </a:solidFill>
                        </a:rPr>
                        <a:t>TEAM MEMBER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3550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cap="none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35507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Keerthana G.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[to be added by team]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Thota Jhana Sri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[to be added by team]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Sutte Alekhya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62626"/>
                          </a:solidFill>
                        </a:rPr>
                        <a:t>[to be added by team]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None/>
            </a:pPr>
            <a:r>
              <a:rPr lang="en-US" sz="2800"/>
              <a:t>CONCLUSION &amp; FUTURE SCOPE</a:t>
            </a:r>
            <a:endParaRPr/>
          </a:p>
        </p:txBody>
      </p:sp>
      <p:sp>
        <p:nvSpPr>
          <p:cNvPr id="336" name="Google Shape;336;p28"/>
          <p:cNvSpPr/>
          <p:nvPr/>
        </p:nvSpPr>
        <p:spPr>
          <a:xfrm>
            <a:off x="457200" y="1097280"/>
            <a:ext cx="5943600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6629400" y="1097280"/>
            <a:ext cx="5102352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594360" y="11430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CONCLUSION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594360" y="150876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VotingHub provides a structured digital voting workflow combining: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594360" y="2011680"/>
            <a:ext cx="28346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REACT FRONTEND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SPRING BOOT BACKEND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MYSQL DATABASE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OTP-BASED AUTHENTICATION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3474720" y="2011680"/>
            <a:ext cx="28803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CONTROLLED VOTING ACCESS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DUPLICATE-VOTE PREVENTION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ELECTION AND RESULT MANAGEMENT</a:t>
            </a:r>
            <a:endParaRPr/>
          </a:p>
          <a:p>
            <a:pPr indent="-228600" lvl="0" marL="228600" marR="0" rtl="0" algn="l"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CO6 MICROSERVICES ARCHITECTURE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6766560" y="1143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FUTURE SCOPE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6766560" y="1554480"/>
            <a:ext cx="48463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REAL-TIME UPDATES USING WEBSOCKET/SSE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DOCKER/CONTAINER DEPLOYMENT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CLOUD DEPLOYMENT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ENHANCED MONITORING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STRONGER IDENTITY-PROVIDER INTEGRATION</a:t>
            </a:r>
            <a:endParaRPr/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FURTHER SECURITY ENHANCEMENTS</a:t>
            </a: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457200" y="4754880"/>
            <a:ext cx="51206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6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5" name="Google Shape;345;p28"/>
          <p:cNvSpPr txBox="1"/>
          <p:nvPr/>
        </p:nvSpPr>
        <p:spPr>
          <a:xfrm>
            <a:off x="548640" y="5035775"/>
            <a:ext cx="4937760" cy="846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GitHub: </a:t>
            </a:r>
            <a:r>
              <a:rPr b="1" i="0" lang="en-US" sz="1300" u="sng" cap="none" strike="noStrike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https://github.com/Jhanasri-thota/DBS-DS_PROJECT</a:t>
            </a:r>
            <a:endParaRPr b="1" i="0" sz="1300" u="none" cap="none" strike="noStrike">
              <a:solidFill>
                <a:srgbClr val="26262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Team No. 9  |  Section 12  |  25CS1302E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6262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Keerthana G.  •  Thota Jhana Sri  •  Sutte Alekhya</a:t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5806440" y="4754880"/>
            <a:ext cx="141732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F7F7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5806440" y="4754880"/>
            <a:ext cx="1417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QR CODE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(insert)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7498079" y="4973662"/>
            <a:ext cx="4233672" cy="979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5507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THANK YOU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26262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
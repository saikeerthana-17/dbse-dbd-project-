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0C70-83BE-B9CC-5A65-E88C51418E9A}"/>
              </a:ext>
            </a:extLst>
          </p:cNvPr>
          <p:cNvSpPr>
            <a:spLocks noGrp="1"/>
          </p:cNvSpPr>
          <p:nvPr>
            <p:ph type="ctrTitle"/>
          </p:nvPr>
        </p:nvSpPr>
        <p:spPr>
          <a:xfrm>
            <a:off x="-247891" y="372884"/>
            <a:ext cx="12115799" cy="2509213"/>
          </a:xfrm>
        </p:spPr>
        <p:txBody>
          <a:bodyPr>
            <a:normAutofit/>
          </a:bodyPr>
          <a:lstStyle/>
          <a:p>
            <a:br>
              <a:rPr lang="en-IN" sz="4000" dirty="0">
                <a:latin typeface="Century Schoolbook" panose="02040604050505020304" pitchFamily="18" charset="0"/>
              </a:rPr>
            </a:br>
            <a:r>
              <a:rPr lang="en-IN" sz="4000" dirty="0">
                <a:latin typeface="Century Schoolbook" panose="02040604050505020304" pitchFamily="18" charset="0"/>
              </a:rPr>
              <a:t> Online Voting System with              Aadhaar-Style OTP Verification</a:t>
            </a:r>
          </a:p>
        </p:txBody>
      </p:sp>
      <p:sp>
        <p:nvSpPr>
          <p:cNvPr id="3" name="Subtitle 2">
            <a:extLst>
              <a:ext uri="{FF2B5EF4-FFF2-40B4-BE49-F238E27FC236}">
                <a16:creationId xmlns:a16="http://schemas.microsoft.com/office/drawing/2014/main" id="{E7B94C4B-9BFE-DD8B-6CDD-E9E8B4E4114F}"/>
              </a:ext>
            </a:extLst>
          </p:cNvPr>
          <p:cNvSpPr>
            <a:spLocks noGrp="1"/>
          </p:cNvSpPr>
          <p:nvPr>
            <p:ph type="subTitle" idx="1"/>
          </p:nvPr>
        </p:nvSpPr>
        <p:spPr>
          <a:xfrm>
            <a:off x="335667" y="3020993"/>
            <a:ext cx="10726664" cy="3548809"/>
          </a:xfrm>
        </p:spPr>
        <p:txBody>
          <a:bodyPr>
            <a:normAutofit fontScale="40000" lnSpcReduction="20000"/>
          </a:bodyPr>
          <a:lstStyle/>
          <a:p>
            <a:r>
              <a:rPr lang="en-IN" sz="6000" b="1"/>
              <a:t>[REVIEW-0]</a:t>
            </a:r>
            <a:endParaRPr lang="en-IN" sz="6000" b="1" dirty="0"/>
          </a:p>
          <a:p>
            <a:r>
              <a:rPr lang="en-IN" sz="4900" b="1" dirty="0"/>
              <a:t>DATABASE SYSTEMS ENGINEERING AND DISTRIBUTED BACKEND DEVELOPMENT</a:t>
            </a:r>
          </a:p>
          <a:p>
            <a:r>
              <a:rPr lang="en-IN" sz="4900" b="1" dirty="0"/>
              <a:t>Course Code:</a:t>
            </a:r>
            <a:r>
              <a:rPr lang="en-IN" sz="4900" dirty="0"/>
              <a:t> 25CS1302E</a:t>
            </a:r>
            <a:br>
              <a:rPr lang="en-IN" sz="4900" dirty="0"/>
            </a:br>
            <a:r>
              <a:rPr lang="en-IN" sz="4900" b="1" dirty="0"/>
              <a:t>Section:</a:t>
            </a:r>
            <a:r>
              <a:rPr lang="en-IN" sz="4900" dirty="0"/>
              <a:t> 12</a:t>
            </a:r>
            <a:br>
              <a:rPr lang="en-IN" sz="4900" dirty="0"/>
            </a:br>
            <a:r>
              <a:rPr lang="en-IN" sz="4900" b="1" dirty="0"/>
              <a:t>Team No.:</a:t>
            </a:r>
            <a:r>
              <a:rPr lang="en-IN" sz="4900" dirty="0"/>
              <a:t> 9</a:t>
            </a:r>
          </a:p>
          <a:p>
            <a:pPr algn="l"/>
            <a:r>
              <a:rPr lang="en-IN" sz="4900" b="1" dirty="0"/>
              <a:t>Team Members</a:t>
            </a:r>
          </a:p>
          <a:p>
            <a:pPr lvl="0" algn="l"/>
            <a:r>
              <a:rPr lang="en-IN" sz="4000" b="1" dirty="0">
                <a:solidFill>
                  <a:schemeClr val="tx1"/>
                </a:solidFill>
              </a:rPr>
              <a:t>2520090132 - Keerthana G. </a:t>
            </a:r>
          </a:p>
          <a:p>
            <a:pPr lvl="0" algn="l"/>
            <a:r>
              <a:rPr lang="en-IN" sz="4000" b="1" dirty="0">
                <a:solidFill>
                  <a:schemeClr val="tx1"/>
                </a:solidFill>
              </a:rPr>
              <a:t>2520090121 - Thota Jhana Sri </a:t>
            </a:r>
          </a:p>
          <a:p>
            <a:pPr lvl="0" algn="l"/>
            <a:r>
              <a:rPr lang="en-IN" sz="4000" b="1" dirty="0">
                <a:solidFill>
                  <a:schemeClr val="tx1"/>
                </a:solidFill>
              </a:rPr>
              <a:t>2520090126 - </a:t>
            </a:r>
            <a:r>
              <a:rPr lang="en-IN" sz="4000" b="1" dirty="0" err="1">
                <a:solidFill>
                  <a:schemeClr val="tx1"/>
                </a:solidFill>
              </a:rPr>
              <a:t>Sutte</a:t>
            </a:r>
            <a:r>
              <a:rPr lang="en-IN" sz="4000" b="1" dirty="0">
                <a:solidFill>
                  <a:schemeClr val="tx1"/>
                </a:solidFill>
              </a:rPr>
              <a:t> Alekhya</a:t>
            </a:r>
          </a:p>
          <a:p>
            <a:endParaRPr lang="en-IN" dirty="0"/>
          </a:p>
        </p:txBody>
      </p:sp>
      <p:pic>
        <p:nvPicPr>
          <p:cNvPr id="5" name="Picture 4">
            <a:extLst>
              <a:ext uri="{FF2B5EF4-FFF2-40B4-BE49-F238E27FC236}">
                <a16:creationId xmlns:a16="http://schemas.microsoft.com/office/drawing/2014/main" id="{FB7C8534-0FDA-7C12-4F94-D817E61BE89E}"/>
              </a:ext>
            </a:extLst>
          </p:cNvPr>
          <p:cNvPicPr>
            <a:picLocks noChangeAspect="1"/>
          </p:cNvPicPr>
          <p:nvPr/>
        </p:nvPicPr>
        <p:blipFill>
          <a:blip r:embed="rId2"/>
          <a:stretch>
            <a:fillRect/>
          </a:stretch>
        </p:blipFill>
        <p:spPr>
          <a:xfrm>
            <a:off x="9534789" y="-4541"/>
            <a:ext cx="1789192" cy="1770927"/>
          </a:xfrm>
          <a:prstGeom prst="rect">
            <a:avLst/>
          </a:prstGeom>
        </p:spPr>
      </p:pic>
    </p:spTree>
    <p:extLst>
      <p:ext uri="{BB962C8B-B14F-4D97-AF65-F5344CB8AC3E}">
        <p14:creationId xmlns:p14="http://schemas.microsoft.com/office/powerpoint/2010/main" val="2795286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CEA22-0232-ADE5-F067-6D613D7B1798}"/>
              </a:ext>
            </a:extLst>
          </p:cNvPr>
          <p:cNvSpPr>
            <a:spLocks noGrp="1"/>
          </p:cNvSpPr>
          <p:nvPr>
            <p:ph type="title"/>
          </p:nvPr>
        </p:nvSpPr>
        <p:spPr>
          <a:xfrm>
            <a:off x="-2342993" y="388307"/>
            <a:ext cx="10364451" cy="1596177"/>
          </a:xfrm>
        </p:spPr>
        <p:txBody>
          <a:bodyPr/>
          <a:lstStyle/>
          <a:p>
            <a:r>
              <a:rPr lang="en-IN" dirty="0"/>
              <a:t>Introduction</a:t>
            </a:r>
          </a:p>
        </p:txBody>
      </p:sp>
      <p:sp>
        <p:nvSpPr>
          <p:cNvPr id="3" name="Content Placeholder 2">
            <a:extLst>
              <a:ext uri="{FF2B5EF4-FFF2-40B4-BE49-F238E27FC236}">
                <a16:creationId xmlns:a16="http://schemas.microsoft.com/office/drawing/2014/main" id="{EDC1904D-96E4-32C5-58FA-FA711892A820}"/>
              </a:ext>
            </a:extLst>
          </p:cNvPr>
          <p:cNvSpPr>
            <a:spLocks noGrp="1"/>
          </p:cNvSpPr>
          <p:nvPr>
            <p:ph sz="quarter" idx="13"/>
          </p:nvPr>
        </p:nvSpPr>
        <p:spPr>
          <a:xfrm>
            <a:off x="354591" y="1829680"/>
            <a:ext cx="11837409" cy="4408282"/>
          </a:xfrm>
        </p:spPr>
        <p:txBody>
          <a:bodyPr>
            <a:normAutofit fontScale="92500" lnSpcReduction="10000"/>
          </a:bodyPr>
          <a:lstStyle/>
          <a:p>
            <a:pPr lvl="0"/>
            <a:r>
              <a:rPr lang="en-IN" dirty="0"/>
              <a:t>Online Voting System is a web-based application designed to modernize the traditional voting process. </a:t>
            </a:r>
          </a:p>
          <a:p>
            <a:pPr lvl="0"/>
            <a:r>
              <a:rPr lang="en-IN" dirty="0"/>
              <a:t>It provides a convenient platform for voters to cast their votes digitally. </a:t>
            </a:r>
          </a:p>
          <a:p>
            <a:pPr lvl="0"/>
            <a:r>
              <a:rPr lang="en-IN" dirty="0"/>
              <a:t>OTP-based verification provides an additional layer of voter authentication. </a:t>
            </a:r>
          </a:p>
          <a:p>
            <a:pPr lvl="0"/>
            <a:r>
              <a:rPr lang="en-IN" dirty="0"/>
              <a:t>Only authenticated voters can access the voting interface. </a:t>
            </a:r>
          </a:p>
          <a:p>
            <a:pPr lvl="0"/>
            <a:r>
              <a:rPr lang="en-IN" dirty="0"/>
              <a:t>The system uses a centralized database to manage voters, candidates, elections and votes. </a:t>
            </a:r>
          </a:p>
          <a:p>
            <a:pPr lvl="0"/>
            <a:r>
              <a:rPr lang="en-IN" dirty="0"/>
              <a:t>It also helps administrators manage elections and generate results efficiently.</a:t>
            </a:r>
          </a:p>
          <a:p>
            <a:pPr lvl="0"/>
            <a:endParaRPr lang="en-IN" dirty="0"/>
          </a:p>
          <a:p>
            <a:pPr marL="0" indent="0">
              <a:buNone/>
            </a:pPr>
            <a:r>
              <a:rPr lang="en-IN" b="1" dirty="0"/>
              <a:t>       Key Idea</a:t>
            </a:r>
          </a:p>
          <a:p>
            <a:r>
              <a:rPr lang="en-IN" dirty="0"/>
              <a:t>Secure Authentication + Database Management + Online</a:t>
            </a:r>
            <a:r>
              <a:rPr lang="en-IN" b="1" dirty="0"/>
              <a:t> </a:t>
            </a:r>
            <a:r>
              <a:rPr lang="en-IN" dirty="0"/>
              <a:t>Voting</a:t>
            </a:r>
          </a:p>
          <a:p>
            <a:pPr lvl="0"/>
            <a:endParaRPr lang="en-IN" dirty="0"/>
          </a:p>
          <a:p>
            <a:endParaRPr lang="en-IN" dirty="0"/>
          </a:p>
        </p:txBody>
      </p:sp>
    </p:spTree>
    <p:extLst>
      <p:ext uri="{BB962C8B-B14F-4D97-AF65-F5344CB8AC3E}">
        <p14:creationId xmlns:p14="http://schemas.microsoft.com/office/powerpoint/2010/main" val="3938480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006C-C251-5E34-29E3-A312D1801C84}"/>
              </a:ext>
            </a:extLst>
          </p:cNvPr>
          <p:cNvSpPr>
            <a:spLocks noGrp="1"/>
          </p:cNvSpPr>
          <p:nvPr>
            <p:ph type="title"/>
          </p:nvPr>
        </p:nvSpPr>
        <p:spPr>
          <a:xfrm>
            <a:off x="-2004789" y="506706"/>
            <a:ext cx="10364451" cy="1596177"/>
          </a:xfrm>
        </p:spPr>
        <p:txBody>
          <a:bodyPr/>
          <a:lstStyle/>
          <a:p>
            <a:r>
              <a:rPr lang="en-IN" dirty="0"/>
              <a:t>Problem Statement</a:t>
            </a:r>
          </a:p>
        </p:txBody>
      </p:sp>
      <p:sp>
        <p:nvSpPr>
          <p:cNvPr id="3" name="Content Placeholder 2">
            <a:extLst>
              <a:ext uri="{FF2B5EF4-FFF2-40B4-BE49-F238E27FC236}">
                <a16:creationId xmlns:a16="http://schemas.microsoft.com/office/drawing/2014/main" id="{1FD84039-75E7-3A40-6DAC-29641FE525F9}"/>
              </a:ext>
            </a:extLst>
          </p:cNvPr>
          <p:cNvSpPr>
            <a:spLocks noGrp="1"/>
          </p:cNvSpPr>
          <p:nvPr>
            <p:ph sz="quarter" idx="13"/>
          </p:nvPr>
        </p:nvSpPr>
        <p:spPr>
          <a:xfrm>
            <a:off x="1414815" y="1864889"/>
            <a:ext cx="10363826" cy="3424107"/>
          </a:xfrm>
        </p:spPr>
        <p:txBody>
          <a:bodyPr>
            <a:normAutofit fontScale="92500"/>
          </a:bodyPr>
          <a:lstStyle/>
          <a:p>
            <a:pPr marL="0" indent="0">
              <a:buNone/>
            </a:pPr>
            <a:r>
              <a:rPr lang="en-IN" dirty="0"/>
              <a:t>          Traditional voting systems require voters to be physically present at polling locations and involve manual verification, record maintenance, and vote counting. These processes can require significant time and effort and may make election management more complex. In an online environment, ensuring that only authorized voters can access the voting system, preventing duplicate voting, and maintaining accurate voting records are important challenges. Therefore, there is a need for a secure and user-friendly online voting system that provides voter authentication through OTP verification, maintains vote integrity, securely manages voter and election data, and enables efficient election and result management.</a:t>
            </a:r>
          </a:p>
          <a:p>
            <a:endParaRPr lang="en-IN" dirty="0"/>
          </a:p>
        </p:txBody>
      </p:sp>
    </p:spTree>
    <p:extLst>
      <p:ext uri="{BB962C8B-B14F-4D97-AF65-F5344CB8AC3E}">
        <p14:creationId xmlns:p14="http://schemas.microsoft.com/office/powerpoint/2010/main" val="1320901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2D5F-1C1B-FF51-950B-7B03BA6C04C6}"/>
              </a:ext>
            </a:extLst>
          </p:cNvPr>
          <p:cNvSpPr>
            <a:spLocks noGrp="1"/>
          </p:cNvSpPr>
          <p:nvPr>
            <p:ph type="title"/>
          </p:nvPr>
        </p:nvSpPr>
        <p:spPr>
          <a:xfrm>
            <a:off x="-2668669" y="268712"/>
            <a:ext cx="10364451" cy="1596177"/>
          </a:xfrm>
        </p:spPr>
        <p:txBody>
          <a:bodyPr/>
          <a:lstStyle/>
          <a:p>
            <a:r>
              <a:rPr lang="en-IN" dirty="0"/>
              <a:t>Objectives</a:t>
            </a:r>
          </a:p>
        </p:txBody>
      </p:sp>
      <p:sp>
        <p:nvSpPr>
          <p:cNvPr id="3" name="Content Placeholder 2">
            <a:extLst>
              <a:ext uri="{FF2B5EF4-FFF2-40B4-BE49-F238E27FC236}">
                <a16:creationId xmlns:a16="http://schemas.microsoft.com/office/drawing/2014/main" id="{A30141A2-4BCE-88EC-6AB5-D262E344335E}"/>
              </a:ext>
            </a:extLst>
          </p:cNvPr>
          <p:cNvSpPr>
            <a:spLocks noGrp="1"/>
          </p:cNvSpPr>
          <p:nvPr>
            <p:ph sz="quarter" idx="13"/>
          </p:nvPr>
        </p:nvSpPr>
        <p:spPr>
          <a:xfrm>
            <a:off x="2391845" y="1864889"/>
            <a:ext cx="10363826" cy="3424107"/>
          </a:xfrm>
        </p:spPr>
        <p:txBody>
          <a:bodyPr/>
          <a:lstStyle/>
          <a:p>
            <a:pPr lvl="0"/>
            <a:r>
              <a:rPr lang="en-IN" dirty="0"/>
              <a:t>Authenticate voters using OTP verification. </a:t>
            </a:r>
          </a:p>
          <a:p>
            <a:pPr lvl="0"/>
            <a:r>
              <a:rPr lang="en-IN" dirty="0"/>
              <a:t>Provide a simple online voting interface. </a:t>
            </a:r>
          </a:p>
          <a:p>
            <a:pPr lvl="0"/>
            <a:r>
              <a:rPr lang="en-IN" dirty="0"/>
              <a:t>Allow only verified voters to cast their vote. </a:t>
            </a:r>
          </a:p>
          <a:p>
            <a:pPr lvl="0"/>
            <a:r>
              <a:rPr lang="en-IN" dirty="0"/>
              <a:t>Prevent multiple voting in the same election. </a:t>
            </a:r>
          </a:p>
          <a:p>
            <a:pPr lvl="0"/>
            <a:r>
              <a:rPr lang="en-IN" dirty="0"/>
              <a:t>Maintain accurate voter and voting records. </a:t>
            </a:r>
          </a:p>
          <a:p>
            <a:pPr lvl="0"/>
            <a:r>
              <a:rPr lang="en-IN" dirty="0"/>
              <a:t>Simplify election and result management. </a:t>
            </a:r>
          </a:p>
          <a:p>
            <a:endParaRPr lang="en-IN" dirty="0"/>
          </a:p>
        </p:txBody>
      </p:sp>
    </p:spTree>
    <p:extLst>
      <p:ext uri="{BB962C8B-B14F-4D97-AF65-F5344CB8AC3E}">
        <p14:creationId xmlns:p14="http://schemas.microsoft.com/office/powerpoint/2010/main" val="337707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8715-97F7-1C87-5A4D-8406804EE900}"/>
              </a:ext>
            </a:extLst>
          </p:cNvPr>
          <p:cNvSpPr>
            <a:spLocks noGrp="1"/>
          </p:cNvSpPr>
          <p:nvPr>
            <p:ph type="title"/>
          </p:nvPr>
        </p:nvSpPr>
        <p:spPr>
          <a:xfrm>
            <a:off x="-3107079" y="2848150"/>
            <a:ext cx="10364451" cy="1596177"/>
          </a:xfrm>
        </p:spPr>
        <p:txBody>
          <a:bodyPr/>
          <a:lstStyle/>
          <a:p>
            <a:r>
              <a:rPr lang="en-IN" dirty="0"/>
              <a:t>Proposed System :</a:t>
            </a:r>
          </a:p>
        </p:txBody>
      </p:sp>
      <p:pic>
        <p:nvPicPr>
          <p:cNvPr id="5" name="Picture 4">
            <a:extLst>
              <a:ext uri="{FF2B5EF4-FFF2-40B4-BE49-F238E27FC236}">
                <a16:creationId xmlns:a16="http://schemas.microsoft.com/office/drawing/2014/main" id="{93986E37-5AD4-EB06-C471-B6FAA9DC7D65}"/>
              </a:ext>
            </a:extLst>
          </p:cNvPr>
          <p:cNvPicPr>
            <a:picLocks noChangeAspect="1"/>
          </p:cNvPicPr>
          <p:nvPr/>
        </p:nvPicPr>
        <p:blipFill>
          <a:blip r:embed="rId2"/>
          <a:stretch>
            <a:fillRect/>
          </a:stretch>
        </p:blipFill>
        <p:spPr>
          <a:xfrm>
            <a:off x="5348614" y="100208"/>
            <a:ext cx="5651326" cy="6757792"/>
          </a:xfrm>
          <a:prstGeom prst="rect">
            <a:avLst/>
          </a:prstGeom>
        </p:spPr>
      </p:pic>
    </p:spTree>
    <p:extLst>
      <p:ext uri="{BB962C8B-B14F-4D97-AF65-F5344CB8AC3E}">
        <p14:creationId xmlns:p14="http://schemas.microsoft.com/office/powerpoint/2010/main" val="376904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8154A7-8B53-3993-5F9A-18C44B63110C}"/>
              </a:ext>
            </a:extLst>
          </p:cNvPr>
          <p:cNvPicPr>
            <a:picLocks noGrp="1" noChangeAspect="1"/>
          </p:cNvPicPr>
          <p:nvPr>
            <p:ph sz="quarter" idx="13"/>
          </p:nvPr>
        </p:nvPicPr>
        <p:blipFill>
          <a:blip r:embed="rId2"/>
          <a:stretch>
            <a:fillRect/>
          </a:stretch>
        </p:blipFill>
        <p:spPr>
          <a:xfrm>
            <a:off x="1291147" y="99973"/>
            <a:ext cx="9987078" cy="6658053"/>
          </a:xfrm>
          <a:prstGeom prst="rect">
            <a:avLst/>
          </a:prstGeom>
        </p:spPr>
      </p:pic>
    </p:spTree>
    <p:extLst>
      <p:ext uri="{BB962C8B-B14F-4D97-AF65-F5344CB8AC3E}">
        <p14:creationId xmlns:p14="http://schemas.microsoft.com/office/powerpoint/2010/main" val="239727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6EF0-DA02-E6C1-BAB0-F6A2CBDC2A4F}"/>
              </a:ext>
            </a:extLst>
          </p:cNvPr>
          <p:cNvSpPr>
            <a:spLocks noGrp="1"/>
          </p:cNvSpPr>
          <p:nvPr>
            <p:ph type="title"/>
          </p:nvPr>
        </p:nvSpPr>
        <p:spPr>
          <a:xfrm>
            <a:off x="-2110865" y="0"/>
            <a:ext cx="10364451" cy="1596177"/>
          </a:xfrm>
        </p:spPr>
        <p:txBody>
          <a:bodyPr/>
          <a:lstStyle/>
          <a:p>
            <a:r>
              <a:rPr lang="en-IN" dirty="0"/>
              <a:t>Database Design</a:t>
            </a:r>
          </a:p>
        </p:txBody>
      </p:sp>
      <p:sp>
        <p:nvSpPr>
          <p:cNvPr id="3" name="Content Placeholder 2">
            <a:extLst>
              <a:ext uri="{FF2B5EF4-FFF2-40B4-BE49-F238E27FC236}">
                <a16:creationId xmlns:a16="http://schemas.microsoft.com/office/drawing/2014/main" id="{6C21B753-E88F-F8AF-62E9-98C3F85259BD}"/>
              </a:ext>
            </a:extLst>
          </p:cNvPr>
          <p:cNvSpPr>
            <a:spLocks noGrp="1"/>
          </p:cNvSpPr>
          <p:nvPr>
            <p:ph sz="quarter" idx="13"/>
          </p:nvPr>
        </p:nvSpPr>
        <p:spPr>
          <a:xfrm>
            <a:off x="706056" y="2349662"/>
            <a:ext cx="2696902" cy="3580434"/>
          </a:xfrm>
        </p:spPr>
        <p:txBody>
          <a:bodyPr>
            <a:normAutofit fontScale="77500" lnSpcReduction="20000"/>
          </a:bodyPr>
          <a:lstStyle/>
          <a:p>
            <a:pPr marL="0" indent="0">
              <a:buNone/>
            </a:pPr>
            <a:r>
              <a:rPr lang="en-IN" b="1" dirty="0"/>
              <a:t>Main Tables:                                  </a:t>
            </a:r>
            <a:endParaRPr lang="en-IN" dirty="0"/>
          </a:p>
          <a:p>
            <a:pPr marL="0" indent="0">
              <a:buNone/>
            </a:pPr>
            <a:r>
              <a:rPr lang="en-IN" b="1" dirty="0"/>
              <a:t>1. Voter</a:t>
            </a:r>
            <a:endParaRPr lang="en-IN" dirty="0"/>
          </a:p>
          <a:p>
            <a:pPr lvl="0"/>
            <a:r>
              <a:rPr lang="en-IN" dirty="0" err="1"/>
              <a:t>voter_id</a:t>
            </a:r>
            <a:r>
              <a:rPr lang="en-IN" dirty="0"/>
              <a:t> — Primary Key </a:t>
            </a:r>
          </a:p>
          <a:p>
            <a:pPr lvl="0"/>
            <a:r>
              <a:rPr lang="en-IN" dirty="0"/>
              <a:t>name </a:t>
            </a:r>
          </a:p>
          <a:p>
            <a:pPr lvl="0"/>
            <a:r>
              <a:rPr lang="en-IN" dirty="0" err="1"/>
              <a:t>mobile_number</a:t>
            </a:r>
            <a:r>
              <a:rPr lang="en-IN" dirty="0"/>
              <a:t> </a:t>
            </a:r>
          </a:p>
          <a:p>
            <a:pPr lvl="0"/>
            <a:r>
              <a:rPr lang="en-IN" dirty="0"/>
              <a:t>email </a:t>
            </a:r>
          </a:p>
          <a:p>
            <a:pPr lvl="0"/>
            <a:r>
              <a:rPr lang="en-IN" dirty="0"/>
              <a:t>password </a:t>
            </a:r>
          </a:p>
          <a:p>
            <a:pPr lvl="0"/>
            <a:r>
              <a:rPr lang="en-IN" dirty="0" err="1"/>
              <a:t>verification_status</a:t>
            </a:r>
            <a:r>
              <a:rPr lang="en-IN" dirty="0"/>
              <a:t> </a:t>
            </a:r>
          </a:p>
          <a:p>
            <a:pPr lvl="0"/>
            <a:r>
              <a:rPr lang="en-IN" dirty="0" err="1"/>
              <a:t>voting_status</a:t>
            </a:r>
            <a:endParaRPr lang="en-IN" dirty="0"/>
          </a:p>
          <a:p>
            <a:endParaRPr lang="en-IN" dirty="0"/>
          </a:p>
        </p:txBody>
      </p:sp>
      <p:sp>
        <p:nvSpPr>
          <p:cNvPr id="5" name="TextBox 4">
            <a:extLst>
              <a:ext uri="{FF2B5EF4-FFF2-40B4-BE49-F238E27FC236}">
                <a16:creationId xmlns:a16="http://schemas.microsoft.com/office/drawing/2014/main" id="{B78A5E7E-06B6-2DAE-E08D-4F4BB8F221FF}"/>
              </a:ext>
            </a:extLst>
          </p:cNvPr>
          <p:cNvSpPr txBox="1"/>
          <p:nvPr/>
        </p:nvSpPr>
        <p:spPr>
          <a:xfrm>
            <a:off x="1395427" y="1180678"/>
            <a:ext cx="10364451" cy="830997"/>
          </a:xfrm>
          <a:prstGeom prst="rect">
            <a:avLst/>
          </a:prstGeom>
          <a:noFill/>
        </p:spPr>
        <p:txBody>
          <a:bodyPr wrap="square">
            <a:spAutoFit/>
          </a:bodyPr>
          <a:lstStyle/>
          <a:p>
            <a:r>
              <a:rPr lang="en-IN" sz="2400" dirty="0"/>
              <a:t>Our system uses </a:t>
            </a:r>
            <a:r>
              <a:rPr lang="en-IN" sz="2400" b="1" dirty="0"/>
              <a:t>MySQL</a:t>
            </a:r>
            <a:r>
              <a:rPr lang="en-IN" sz="2400" dirty="0"/>
              <a:t> as a relational database for storing and managing voting-related information.</a:t>
            </a:r>
          </a:p>
        </p:txBody>
      </p:sp>
      <p:sp>
        <p:nvSpPr>
          <p:cNvPr id="7" name="TextBox 6">
            <a:extLst>
              <a:ext uri="{FF2B5EF4-FFF2-40B4-BE49-F238E27FC236}">
                <a16:creationId xmlns:a16="http://schemas.microsoft.com/office/drawing/2014/main" id="{2247A8CD-3059-A81E-0427-81357F00B359}"/>
              </a:ext>
            </a:extLst>
          </p:cNvPr>
          <p:cNvSpPr txBox="1"/>
          <p:nvPr/>
        </p:nvSpPr>
        <p:spPr>
          <a:xfrm>
            <a:off x="3402958" y="2686338"/>
            <a:ext cx="2595622" cy="2554545"/>
          </a:xfrm>
          <a:prstGeom prst="rect">
            <a:avLst/>
          </a:prstGeom>
          <a:noFill/>
        </p:spPr>
        <p:txBody>
          <a:bodyPr wrap="square">
            <a:spAutoFit/>
          </a:bodyPr>
          <a:lstStyle/>
          <a:p>
            <a:pPr>
              <a:buNone/>
            </a:pPr>
            <a:r>
              <a:rPr lang="en-IN" sz="2000" b="1" dirty="0"/>
              <a:t>2. Candidate</a:t>
            </a:r>
            <a:endParaRPr lang="en-IN" sz="2000" dirty="0"/>
          </a:p>
          <a:p>
            <a:pPr marL="342900" lvl="0" indent="-342900">
              <a:buFont typeface="Arial" panose="020B0604020202020204" pitchFamily="34" charset="0"/>
              <a:buChar char="•"/>
            </a:pPr>
            <a:r>
              <a:rPr lang="en-IN" sz="2000" dirty="0" err="1">
                <a:latin typeface="+mn-lt"/>
              </a:rPr>
              <a:t>candidate_id</a:t>
            </a:r>
            <a:r>
              <a:rPr lang="en-IN" sz="2000" dirty="0"/>
              <a:t> — Primary Key </a:t>
            </a:r>
          </a:p>
          <a:p>
            <a:pPr marL="342900" lvl="0" indent="-342900">
              <a:buFont typeface="Arial" panose="020B0604020202020204" pitchFamily="34" charset="0"/>
              <a:buChar char="•"/>
            </a:pPr>
            <a:r>
              <a:rPr lang="en-IN" sz="2000" dirty="0">
                <a:latin typeface="+mn-lt"/>
              </a:rPr>
              <a:t>name</a:t>
            </a:r>
            <a:r>
              <a:rPr lang="en-IN" sz="2000" dirty="0"/>
              <a:t> </a:t>
            </a:r>
          </a:p>
          <a:p>
            <a:pPr marL="342900" lvl="0" indent="-342900">
              <a:buFont typeface="Arial" panose="020B0604020202020204" pitchFamily="34" charset="0"/>
              <a:buChar char="•"/>
            </a:pPr>
            <a:r>
              <a:rPr lang="en-IN" sz="2000" dirty="0">
                <a:latin typeface="+mn-lt"/>
              </a:rPr>
              <a:t>party</a:t>
            </a:r>
            <a:r>
              <a:rPr lang="en-IN" sz="2000" dirty="0"/>
              <a:t> </a:t>
            </a:r>
          </a:p>
          <a:p>
            <a:pPr marL="342900" lvl="0" indent="-342900">
              <a:buFont typeface="Arial" panose="020B0604020202020204" pitchFamily="34" charset="0"/>
              <a:buChar char="•"/>
            </a:pPr>
            <a:r>
              <a:rPr lang="en-IN" sz="2000" dirty="0" err="1">
                <a:latin typeface="+mn-lt"/>
              </a:rPr>
              <a:t>election_id</a:t>
            </a:r>
            <a:r>
              <a:rPr lang="en-IN" sz="2000" dirty="0"/>
              <a:t> — Foreign Key </a:t>
            </a:r>
          </a:p>
          <a:p>
            <a:pPr marL="342900" lvl="0" indent="-342900">
              <a:buFont typeface="Arial" panose="020B0604020202020204" pitchFamily="34" charset="0"/>
              <a:buChar char="•"/>
            </a:pPr>
            <a:r>
              <a:rPr lang="en-IN" sz="2000" dirty="0" err="1">
                <a:latin typeface="+mn-lt"/>
              </a:rPr>
              <a:t>is_active</a:t>
            </a:r>
            <a:endParaRPr lang="en-IN" sz="2000" dirty="0"/>
          </a:p>
        </p:txBody>
      </p:sp>
      <p:sp>
        <p:nvSpPr>
          <p:cNvPr id="9" name="TextBox 8">
            <a:extLst>
              <a:ext uri="{FF2B5EF4-FFF2-40B4-BE49-F238E27FC236}">
                <a16:creationId xmlns:a16="http://schemas.microsoft.com/office/drawing/2014/main" id="{13F9FEA2-B8AE-1320-4B6B-88D247D151E2}"/>
              </a:ext>
            </a:extLst>
          </p:cNvPr>
          <p:cNvSpPr txBox="1"/>
          <p:nvPr/>
        </p:nvSpPr>
        <p:spPr>
          <a:xfrm>
            <a:off x="5687126" y="2686338"/>
            <a:ext cx="2397405" cy="2554545"/>
          </a:xfrm>
          <a:prstGeom prst="rect">
            <a:avLst/>
          </a:prstGeom>
          <a:noFill/>
        </p:spPr>
        <p:txBody>
          <a:bodyPr wrap="square">
            <a:spAutoFit/>
          </a:bodyPr>
          <a:lstStyle/>
          <a:p>
            <a:pPr>
              <a:buNone/>
            </a:pPr>
            <a:r>
              <a:rPr lang="en-IN" sz="2000" b="1" dirty="0"/>
              <a:t>3. Election</a:t>
            </a:r>
            <a:endParaRPr lang="en-IN" sz="2000" dirty="0"/>
          </a:p>
          <a:p>
            <a:pPr marL="342900" lvl="0" indent="-342900">
              <a:buFont typeface="Arial" panose="020B0604020202020204" pitchFamily="34" charset="0"/>
              <a:buChar char="•"/>
            </a:pPr>
            <a:r>
              <a:rPr lang="en-IN" sz="2000" dirty="0" err="1">
                <a:latin typeface="+mn-lt"/>
              </a:rPr>
              <a:t>election_id</a:t>
            </a:r>
            <a:r>
              <a:rPr lang="en-IN" sz="2000" dirty="0"/>
              <a:t> — Primary Key </a:t>
            </a:r>
          </a:p>
          <a:p>
            <a:pPr marL="342900" lvl="0" indent="-342900">
              <a:buFont typeface="Arial" panose="020B0604020202020204" pitchFamily="34" charset="0"/>
              <a:buChar char="•"/>
            </a:pPr>
            <a:r>
              <a:rPr lang="en-IN" sz="2000" dirty="0" err="1">
                <a:latin typeface="+mn-lt"/>
              </a:rPr>
              <a:t>election_name</a:t>
            </a:r>
            <a:r>
              <a:rPr lang="en-IN" sz="2000" dirty="0"/>
              <a:t> </a:t>
            </a:r>
          </a:p>
          <a:p>
            <a:pPr marL="342900" lvl="0" indent="-342900">
              <a:buFont typeface="Arial" panose="020B0604020202020204" pitchFamily="34" charset="0"/>
              <a:buChar char="•"/>
            </a:pPr>
            <a:r>
              <a:rPr lang="en-IN" sz="2000" dirty="0">
                <a:latin typeface="+mn-lt"/>
              </a:rPr>
              <a:t>description</a:t>
            </a:r>
            <a:r>
              <a:rPr lang="en-IN" sz="2000" dirty="0"/>
              <a:t> </a:t>
            </a:r>
          </a:p>
          <a:p>
            <a:pPr marL="342900" lvl="0" indent="-342900">
              <a:buFont typeface="Arial" panose="020B0604020202020204" pitchFamily="34" charset="0"/>
              <a:buChar char="•"/>
            </a:pPr>
            <a:r>
              <a:rPr lang="en-IN" sz="2000" dirty="0" err="1">
                <a:latin typeface="+mn-lt"/>
              </a:rPr>
              <a:t>start_date</a:t>
            </a:r>
            <a:r>
              <a:rPr lang="en-IN" sz="2000" dirty="0"/>
              <a:t> </a:t>
            </a:r>
          </a:p>
          <a:p>
            <a:pPr marL="342900" lvl="0" indent="-342900">
              <a:buFont typeface="Arial" panose="020B0604020202020204" pitchFamily="34" charset="0"/>
              <a:buChar char="•"/>
            </a:pPr>
            <a:r>
              <a:rPr lang="en-IN" sz="2000" dirty="0" err="1">
                <a:latin typeface="+mn-lt"/>
              </a:rPr>
              <a:t>end_date</a:t>
            </a:r>
            <a:r>
              <a:rPr lang="en-IN" sz="2000" dirty="0"/>
              <a:t> </a:t>
            </a:r>
          </a:p>
          <a:p>
            <a:pPr marL="342900" lvl="0" indent="-342900">
              <a:buFont typeface="Arial" panose="020B0604020202020204" pitchFamily="34" charset="0"/>
              <a:buChar char="•"/>
            </a:pPr>
            <a:r>
              <a:rPr lang="en-IN" sz="2000" dirty="0">
                <a:latin typeface="+mn-lt"/>
              </a:rPr>
              <a:t>status</a:t>
            </a:r>
            <a:endParaRPr lang="en-IN" sz="2000" dirty="0"/>
          </a:p>
        </p:txBody>
      </p:sp>
      <p:sp>
        <p:nvSpPr>
          <p:cNvPr id="12" name="TextBox 11">
            <a:extLst>
              <a:ext uri="{FF2B5EF4-FFF2-40B4-BE49-F238E27FC236}">
                <a16:creationId xmlns:a16="http://schemas.microsoft.com/office/drawing/2014/main" id="{E237B3A5-976E-0F3D-9D82-4982B00D9C94}"/>
              </a:ext>
            </a:extLst>
          </p:cNvPr>
          <p:cNvSpPr txBox="1"/>
          <p:nvPr/>
        </p:nvSpPr>
        <p:spPr>
          <a:xfrm>
            <a:off x="7774858" y="2680045"/>
            <a:ext cx="2176040" cy="2308324"/>
          </a:xfrm>
          <a:prstGeom prst="rect">
            <a:avLst/>
          </a:prstGeom>
          <a:noFill/>
        </p:spPr>
        <p:txBody>
          <a:bodyPr wrap="square">
            <a:spAutoFit/>
          </a:bodyPr>
          <a:lstStyle/>
          <a:p>
            <a:pPr>
              <a:buNone/>
            </a:pPr>
            <a:r>
              <a:rPr lang="en-IN" b="1" dirty="0"/>
              <a:t>4.OTP_Verification</a:t>
            </a:r>
            <a:endParaRPr lang="en-IN" dirty="0"/>
          </a:p>
          <a:p>
            <a:pPr marL="342900" lvl="0" indent="-342900">
              <a:buFont typeface="Arial" panose="020B0604020202020204" pitchFamily="34" charset="0"/>
              <a:buChar char="•"/>
            </a:pPr>
            <a:r>
              <a:rPr lang="en-IN" dirty="0" err="1">
                <a:latin typeface="+mn-lt"/>
              </a:rPr>
              <a:t>otp_id</a:t>
            </a:r>
            <a:r>
              <a:rPr lang="en-IN" dirty="0"/>
              <a:t> — Primary Key </a:t>
            </a:r>
          </a:p>
          <a:p>
            <a:pPr marL="342900" lvl="0" indent="-342900">
              <a:buFont typeface="Arial" panose="020B0604020202020204" pitchFamily="34" charset="0"/>
              <a:buChar char="•"/>
            </a:pPr>
            <a:r>
              <a:rPr lang="en-IN" dirty="0" err="1">
                <a:latin typeface="+mn-lt"/>
              </a:rPr>
              <a:t>voter_id</a:t>
            </a:r>
            <a:r>
              <a:rPr lang="en-IN" dirty="0"/>
              <a:t> — Foreign Key </a:t>
            </a:r>
          </a:p>
          <a:p>
            <a:pPr marL="342900" lvl="0" indent="-342900">
              <a:buFont typeface="Arial" panose="020B0604020202020204" pitchFamily="34" charset="0"/>
              <a:buChar char="•"/>
            </a:pPr>
            <a:r>
              <a:rPr lang="en-IN" dirty="0" err="1">
                <a:latin typeface="+mn-lt"/>
              </a:rPr>
              <a:t>otp_code</a:t>
            </a:r>
            <a:r>
              <a:rPr lang="en-IN" dirty="0"/>
              <a:t> </a:t>
            </a:r>
          </a:p>
          <a:p>
            <a:pPr marL="342900" lvl="0" indent="-342900">
              <a:buFont typeface="Arial" panose="020B0604020202020204" pitchFamily="34" charset="0"/>
              <a:buChar char="•"/>
            </a:pPr>
            <a:r>
              <a:rPr lang="en-IN" dirty="0" err="1">
                <a:latin typeface="+mn-lt"/>
              </a:rPr>
              <a:t>otp_expiry_time</a:t>
            </a:r>
            <a:r>
              <a:rPr lang="en-IN" dirty="0"/>
              <a:t> </a:t>
            </a:r>
          </a:p>
          <a:p>
            <a:pPr marL="342900" lvl="0" indent="-342900">
              <a:buFont typeface="Arial" panose="020B0604020202020204" pitchFamily="34" charset="0"/>
              <a:buChar char="•"/>
            </a:pPr>
            <a:r>
              <a:rPr lang="en-IN" dirty="0" err="1">
                <a:latin typeface="+mn-lt"/>
              </a:rPr>
              <a:t>is_verified</a:t>
            </a:r>
            <a:r>
              <a:rPr lang="en-IN" dirty="0"/>
              <a:t> </a:t>
            </a:r>
          </a:p>
        </p:txBody>
      </p:sp>
      <p:sp>
        <p:nvSpPr>
          <p:cNvPr id="14" name="TextBox 13">
            <a:extLst>
              <a:ext uri="{FF2B5EF4-FFF2-40B4-BE49-F238E27FC236}">
                <a16:creationId xmlns:a16="http://schemas.microsoft.com/office/drawing/2014/main" id="{FBEEC75E-40A5-535F-B509-060B754C4157}"/>
              </a:ext>
            </a:extLst>
          </p:cNvPr>
          <p:cNvSpPr txBox="1"/>
          <p:nvPr/>
        </p:nvSpPr>
        <p:spPr>
          <a:xfrm>
            <a:off x="9860809" y="2680045"/>
            <a:ext cx="2331191" cy="2862322"/>
          </a:xfrm>
          <a:prstGeom prst="rect">
            <a:avLst/>
          </a:prstGeom>
          <a:noFill/>
        </p:spPr>
        <p:txBody>
          <a:bodyPr wrap="square">
            <a:spAutoFit/>
          </a:bodyPr>
          <a:lstStyle/>
          <a:p>
            <a:pPr>
              <a:buNone/>
            </a:pPr>
            <a:r>
              <a:rPr lang="en-IN" b="1" dirty="0"/>
              <a:t>5. Vote</a:t>
            </a:r>
            <a:endParaRPr lang="en-IN" dirty="0"/>
          </a:p>
          <a:p>
            <a:pPr marL="342900" lvl="0" indent="-342900">
              <a:buFont typeface="Arial" panose="020B0604020202020204" pitchFamily="34" charset="0"/>
              <a:buChar char="•"/>
            </a:pPr>
            <a:r>
              <a:rPr lang="en-IN" dirty="0" err="1">
                <a:latin typeface="+mn-lt"/>
              </a:rPr>
              <a:t>vote_id</a:t>
            </a:r>
            <a:r>
              <a:rPr lang="en-IN" dirty="0"/>
              <a:t> — Primary Key </a:t>
            </a:r>
          </a:p>
          <a:p>
            <a:pPr marL="342900" lvl="0" indent="-342900">
              <a:buFont typeface="Arial" panose="020B0604020202020204" pitchFamily="34" charset="0"/>
              <a:buChar char="•"/>
            </a:pPr>
            <a:r>
              <a:rPr lang="en-IN" dirty="0" err="1">
                <a:latin typeface="+mn-lt"/>
              </a:rPr>
              <a:t>voter_id</a:t>
            </a:r>
            <a:r>
              <a:rPr lang="en-IN" dirty="0"/>
              <a:t> — Foreign Key </a:t>
            </a:r>
          </a:p>
          <a:p>
            <a:pPr marL="342900" lvl="0" indent="-342900">
              <a:buFont typeface="Arial" panose="020B0604020202020204" pitchFamily="34" charset="0"/>
              <a:buChar char="•"/>
            </a:pPr>
            <a:r>
              <a:rPr lang="en-IN" dirty="0" err="1">
                <a:latin typeface="+mn-lt"/>
              </a:rPr>
              <a:t>candidate_id</a:t>
            </a:r>
            <a:r>
              <a:rPr lang="en-IN" dirty="0"/>
              <a:t> — Foreign Key </a:t>
            </a:r>
          </a:p>
          <a:p>
            <a:pPr marL="342900" lvl="0" indent="-342900">
              <a:buFont typeface="Arial" panose="020B0604020202020204" pitchFamily="34" charset="0"/>
              <a:buChar char="•"/>
            </a:pPr>
            <a:r>
              <a:rPr lang="en-IN" dirty="0" err="1">
                <a:latin typeface="+mn-lt"/>
              </a:rPr>
              <a:t>election_id</a:t>
            </a:r>
            <a:r>
              <a:rPr lang="en-IN" dirty="0"/>
              <a:t> — Foreign Key </a:t>
            </a:r>
          </a:p>
          <a:p>
            <a:pPr marL="342900" lvl="0" indent="-342900">
              <a:buFont typeface="Arial" panose="020B0604020202020204" pitchFamily="34" charset="0"/>
              <a:buChar char="•"/>
            </a:pPr>
            <a:r>
              <a:rPr lang="en-IN" dirty="0" err="1">
                <a:latin typeface="+mn-lt"/>
              </a:rPr>
              <a:t>voting_time</a:t>
            </a:r>
            <a:r>
              <a:rPr lang="en-IN" dirty="0"/>
              <a:t> </a:t>
            </a:r>
          </a:p>
        </p:txBody>
      </p:sp>
    </p:spTree>
    <p:extLst>
      <p:ext uri="{BB962C8B-B14F-4D97-AF65-F5344CB8AC3E}">
        <p14:creationId xmlns:p14="http://schemas.microsoft.com/office/powerpoint/2010/main" val="14851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2051-5031-917C-3DC8-66FD552DD66C}"/>
              </a:ext>
            </a:extLst>
          </p:cNvPr>
          <p:cNvSpPr>
            <a:spLocks noGrp="1"/>
          </p:cNvSpPr>
          <p:nvPr>
            <p:ph type="title"/>
          </p:nvPr>
        </p:nvSpPr>
        <p:spPr>
          <a:xfrm>
            <a:off x="-2188241" y="453907"/>
            <a:ext cx="10364451" cy="1596177"/>
          </a:xfrm>
        </p:spPr>
        <p:txBody>
          <a:bodyPr/>
          <a:lstStyle/>
          <a:p>
            <a:r>
              <a:rPr lang="en-IN" dirty="0"/>
              <a:t>Conclusion</a:t>
            </a:r>
          </a:p>
        </p:txBody>
      </p:sp>
      <p:sp>
        <p:nvSpPr>
          <p:cNvPr id="3" name="Content Placeholder 2">
            <a:extLst>
              <a:ext uri="{FF2B5EF4-FFF2-40B4-BE49-F238E27FC236}">
                <a16:creationId xmlns:a16="http://schemas.microsoft.com/office/drawing/2014/main" id="{FE539E45-4786-FB2E-AE1F-B7C670265D71}"/>
              </a:ext>
            </a:extLst>
          </p:cNvPr>
          <p:cNvSpPr>
            <a:spLocks noGrp="1"/>
          </p:cNvSpPr>
          <p:nvPr>
            <p:ph sz="quarter" idx="13"/>
          </p:nvPr>
        </p:nvSpPr>
        <p:spPr>
          <a:xfrm>
            <a:off x="613458" y="1851949"/>
            <a:ext cx="11185003" cy="4663963"/>
          </a:xfrm>
        </p:spPr>
        <p:txBody>
          <a:bodyPr>
            <a:normAutofit/>
          </a:bodyPr>
          <a:lstStyle/>
          <a:p>
            <a:pPr marL="0" indent="0">
              <a:buNone/>
            </a:pPr>
            <a:r>
              <a:rPr lang="en-IN" dirty="0"/>
              <a:t>The Online Voting System provides a structured digital voting workflow using:</a:t>
            </a:r>
          </a:p>
          <a:p>
            <a:pPr lvl="0"/>
            <a:r>
              <a:rPr lang="en-IN" dirty="0"/>
              <a:t>OTP-based voter authentication. </a:t>
            </a:r>
          </a:p>
          <a:p>
            <a:pPr lvl="0"/>
            <a:r>
              <a:rPr lang="en-IN" dirty="0"/>
              <a:t>Spring Boot backend. </a:t>
            </a:r>
          </a:p>
          <a:p>
            <a:pPr lvl="0"/>
            <a:r>
              <a:rPr lang="en-IN" dirty="0"/>
              <a:t>MySQL relational database. </a:t>
            </a:r>
          </a:p>
          <a:p>
            <a:pPr lvl="0"/>
            <a:r>
              <a:rPr lang="en-IN" dirty="0"/>
              <a:t>Controlled voting access. </a:t>
            </a:r>
          </a:p>
          <a:p>
            <a:pPr lvl="0"/>
            <a:r>
              <a:rPr lang="en-IN" dirty="0"/>
              <a:t>Duplicate voting prevention. </a:t>
            </a:r>
          </a:p>
          <a:p>
            <a:pPr lvl="0"/>
            <a:r>
              <a:rPr lang="en-IN" dirty="0"/>
              <a:t>Automated vote and result management. </a:t>
            </a:r>
          </a:p>
          <a:p>
            <a:pPr marL="0" indent="0">
              <a:buNone/>
            </a:pPr>
            <a:r>
              <a:rPr lang="en-IN" dirty="0"/>
              <a:t>The project demonstrates practical concepts from database engineering and backend development, SQL, transactions, REST APIs, authentication and database integration.</a:t>
            </a:r>
          </a:p>
          <a:p>
            <a:endParaRPr lang="en-IN" dirty="0"/>
          </a:p>
        </p:txBody>
      </p:sp>
    </p:spTree>
    <p:extLst>
      <p:ext uri="{BB962C8B-B14F-4D97-AF65-F5344CB8AC3E}">
        <p14:creationId xmlns:p14="http://schemas.microsoft.com/office/powerpoint/2010/main" val="283521900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{4BFD07D1-45E2-4731-99CF-6C2AF7303763}TF62d0d592-7ac2-4846-a919-75806e8bead47c13978d-7a72a11451b2</Template>
  <TotalTime>42</TotalTime>
  <Words>496</Words>
  <Application>Microsoft Office PowerPoint</Application>
  <PresentationFormat>Widescreen</PresentationFormat>
  <Paragraphs>73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Schoolbook</vt:lpstr>
      <vt:lpstr>Tw Cen MT</vt:lpstr>
      <vt:lpstr>Droplet</vt:lpstr>
      <vt:lpstr>  Online Voting System with              Aadhaar-Style OTP Verification</vt:lpstr>
      <vt:lpstr>Introduction</vt:lpstr>
      <vt:lpstr>Problem Statement</vt:lpstr>
      <vt:lpstr>Objectives</vt:lpstr>
      <vt:lpstr>Proposed System :</vt:lpstr>
      <vt:lpstr>PowerPoint Presentation</vt:lpstr>
      <vt:lpstr>Database Design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Jhanasri Thota</dc:creator>
  <cp:lastModifiedBy>Jhanasri Thota</cp:lastModifiedBy>
  <cp:revision>2</cp:revision>
  <dcterms:created xsi:type="dcterms:W3CDTF">2026-08-26T03:18:19Z</dcterms:created>
  <dcterms:modified xsi:type="dcterms:W3CDTF">2026-10-02T17:58:38Z</dcterms:modified>
</cp:coreProperties>
</file>